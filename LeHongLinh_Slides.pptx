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chọn file cần đối chiếu và nhập mã tài liệu. Hệ thống đọc hash gốc trực tiếp từ Smart Contract, đồng thời băm lại file hiện có và so sánh hai giá trị.</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a:t>
            </a:r>
          </a:p>
          <a:p>
            <a:pPr>
              <a:lnSpc>
                <a:spcPct val="115000"/>
              </a:lnSpc>
              <a:spcAft>
                <a:spcPts val="800"/>
              </a:spcAft>
            </a:pPr>
            <a:r>
              <a:rPr sz="1300">
                <a:solidFill>
                  <a:srgbClr val="C9D8E4"/>
                </a:solidFill>
                <a:latin typeface="Arial"/>
              </a:rPr>
              <a:t>   Bảng phân loại trước khi nhập khóa: mục "đã thu hồi" cho tải lại, mục "đang hoạt động" cho ghi thêm bản ghi — mỗi dòng hiện ví và thời điểm đóng dấu on-chain. Lớp kiểm tra lần cuối còn bắt trường hợp nội dung vừa được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8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2</a:t>
            </a:r>
          </a:p>
          <a:p>
            <a:pPr algn="ctr"/>
            <a:r>
              <a:rPr sz="1200">
                <a:solidFill>
                  <a:srgbClr val="C9D8E4"/>
                </a:solidFill>
                <a:latin typeface="Arial"/>
              </a:rPr>
              <a:t>Smart Contract
đã triển khai trên Sepolia</a:t>
            </a:r>
          </a:p>
        </p:txBody>
      </p:sp>
      <p:sp>
        <p:nvSpPr>
          <p:cNvPr id="8" name="Rounded Rectangle 7"/>
          <p:cNvSpPr/>
          <p:nvPr/>
        </p:nvSpPr>
        <p:spPr>
          <a:xfrm>
            <a:off x="35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117</a:t>
            </a:r>
          </a:p>
          <a:p>
            <a:pPr algn="ctr"/>
            <a:r>
              <a:rPr sz="1200">
                <a:solidFill>
                  <a:srgbClr val="C9D8E4"/>
                </a:solidFill>
                <a:latin typeface="Arial"/>
              </a:rPr>
              <a:t>Test tự động
79 unit + 38 e2e đều đạt</a:t>
            </a:r>
          </a:p>
        </p:txBody>
      </p:sp>
      <p:sp>
        <p:nvSpPr>
          <p:cNvPr id="9" name="Rounded Rectangle 8"/>
          <p:cNvSpPr/>
          <p:nvPr/>
        </p:nvSpPr>
        <p:spPr>
          <a:xfrm>
            <a:off x="62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24/7</a:t>
            </a:r>
          </a:p>
          <a:p>
            <a:pPr algn="ctr"/>
            <a:r>
              <a:rPr sz="1200">
                <a:solidFill>
                  <a:srgbClr val="C9D8E4"/>
                </a:solidFill>
                <a:latin typeface="Arial"/>
              </a:rPr>
              <a:t>Vận hành thực tế
Render · Atlas · Pinata</a:t>
            </a:r>
          </a:p>
        </p:txBody>
      </p:sp>
      <p:sp>
        <p:nvSpPr>
          <p:cNvPr id="10" name="Rounded Rectangle 9"/>
          <p:cNvSpPr/>
          <p:nvPr/>
        </p:nvSpPr>
        <p:spPr>
          <a:xfrm>
            <a:off x="89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4</a:t>
            </a:r>
          </a:p>
          <a:p>
            <a:pPr algn="ctr"/>
            <a:r>
              <a:rPr sz="1200">
                <a:solidFill>
                  <a:srgbClr val="C9D8E4"/>
                </a:solidFill>
                <a:latin typeface="Arial"/>
              </a:rPr>
              <a:t>Vai trò RBAC
thực thi trong contract</a:t>
            </a:r>
          </a:p>
        </p:txBody>
      </p:sp>
      <p:sp>
        <p:nvSpPr>
          <p:cNvPr id="11" name="TextBox 10"/>
          <p:cNvSpPr txBox="1"/>
          <p:nvPr/>
        </p:nvSpPr>
        <p:spPr>
          <a:xfrm>
            <a:off x="700000" y="3400000"/>
            <a:ext cx="10800000" cy="2900000"/>
          </a:xfrm>
          <a:prstGeom prst="rect">
            <a:avLst/>
          </a:prstGeom>
          <a:noFill/>
        </p:spPr>
        <p:txBody>
          <a:bodyPr wrap="square">
            <a:spAutoFit/>
          </a:bodyPr>
          <a:lstStyle/>
          <a:p>
            <a:pPr>
              <a:spcAft>
                <a:spcPts val="800"/>
              </a:spcAft>
            </a:pPr>
            <a:r>
              <a:rPr sz="1500" b="1">
                <a:solidFill>
                  <a:srgbClr val="0F9ED5"/>
                </a:solidFill>
                <a:latin typeface="Arial"/>
              </a:rPr>
              <a:t>▸ Hệ thống chạy trên môi trường thật</a:t>
            </a:r>
          </a:p>
          <a:p>
            <a:pPr>
              <a:lnSpc>
                <a:spcPct val="115000"/>
              </a:lnSpc>
              <a:spcAft>
                <a:spcPts val="800"/>
              </a:spcAft>
            </a:pPr>
            <a:r>
              <a:rPr sz="1300">
                <a:solidFill>
                  <a:srgbClr val="C9D8E4"/>
                </a:solidFill>
                <a:latin typeface="Arial"/>
              </a:rPr>
              <a:t>   Contract 0xAf1e…dF74 đang hoạt động trên Sepolia; giao diện triển khai tại blockchain-data-integrity.onrender.com. Toàn bộ luồng tải lên — đóng dấu — kiểm chứng — thu hồi đều thao tác trực tiếp được.</a:t>
            </a:r>
          </a:p>
          <a:p>
            <a:pPr>
              <a:spcAft>
                <a:spcPts val="800"/>
              </a:spcAft>
            </a:pPr>
            <a:r>
              <a:rPr sz="1500" b="1">
                <a:solidFill>
                  <a:srgbClr val="0F9ED5"/>
                </a:solidFill>
                <a:latin typeface="Arial"/>
              </a:rPr>
              <a:t>▸ Phát hiện giả mạo ở mức bit</a:t>
            </a:r>
          </a:p>
          <a:p>
            <a:pPr>
              <a:lnSpc>
                <a:spcPct val="115000"/>
              </a:lnSpc>
              <a:spcAft>
                <a:spcPts val="800"/>
              </a:spcAft>
            </a:pPr>
            <a:r>
              <a:rPr sz="1300">
                <a:solidFill>
                  <a:srgbClr val="C9D8E4"/>
                </a:solidFill>
                <a:latin typeface="Arial"/>
              </a:rPr>
              <a:t>   Mọi chỉnh sửa dù nhỏ nhất đều bị phát hiện: verify so sánh SHA-256 của file nộp với bản ghi on-chain — đổi một ký tự là đổi toàn bộ dấu vân tay. Tài liệu đã thu hồi được cảnh báo riêng kèm lý do thay vì chỉ báo đúng/sai.</a:t>
            </a:r>
          </a:p>
          <a:p>
            <a:pPr>
              <a:spcAft>
                <a:spcPts val="800"/>
              </a:spcAft>
            </a:pPr>
            <a:r>
              <a:rPr sz="1500" b="1">
                <a:solidFill>
                  <a:srgbClr val="0F9ED5"/>
                </a:solidFill>
                <a:latin typeface="Arial"/>
              </a:rPr>
              <a:t>▸ Kiến trúc chống mất dữ liệu</a:t>
            </a:r>
          </a:p>
          <a:p>
            <a:pPr>
              <a:lnSpc>
                <a:spcPct val="115000"/>
              </a:lnSpc>
              <a:spcAft>
                <a:spcPts val="800"/>
              </a:spcAft>
            </a:pPr>
            <a:r>
              <a:rPr sz="1300">
                <a:solidFill>
                  <a:srgbClr val="C9D8E4"/>
                </a:solidFill>
                <a:latin typeface="Arial"/>
              </a:rPr>
              <a:t>   Metadata lưu MongoDB qua endpoint ghi lũy đẳng kèm hàng đợi tự phục hồi phía client; cache sự kiện on-chain chỉ tiến con trỏ trên đoạn quét liền kề nên bản ghi không bao giờ bị bỏ sót.</a:t>
            </a:r>
          </a:p>
          <a:p>
            <a:pPr>
              <a:spcAft>
                <a:spcPts val="800"/>
              </a:spcAft>
            </a:pPr>
            <a:r>
              <a:rPr sz="1500" b="1">
                <a:solidFill>
                  <a:srgbClr val="0F9ED5"/>
                </a:solidFill>
                <a:latin typeface="Arial"/>
              </a:rPr>
              <a:t>▸ Bảo mật nhiều lớp phối hợp</a:t>
            </a:r>
          </a:p>
          <a:p>
            <a:pPr>
              <a:lnSpc>
                <a:spcPct val="115000"/>
              </a:lnSpc>
              <a:spcAft>
                <a:spcPts val="800"/>
              </a:spcAft>
            </a:pPr>
            <a:r>
              <a:rPr sz="1300">
                <a:solidFill>
                  <a:srgbClr val="C9D8E4"/>
                </a:solidFill>
                <a:latin typeface="Arial"/>
              </a:rPr>
              <a:t>   Chữ ký ví thay mật khẩu, phiên JWT có thời hạn, duyệt thiết bị từ máy cũ kèm nhận diện IP–trình duyệt, OTP email làm đường cứu, phân quyền ngay trong contract, mã hóa AES-256 phía client và bọc khóa bằng khóa chủ phía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