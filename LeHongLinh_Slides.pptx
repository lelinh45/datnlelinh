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100000"/>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Quét trùng
sổ cái on-chain</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Khóa AES +
chế độ
từng file</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 mã hóa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nhập khóa, hệ thống đối chiếu hash từng file với sổ cái — bảng phân loại hiển thị ví và thời điểm đã đóng dấu: tài liệu đã thu hồi cho phép tải lại, tài liệu đang hoạt động chỉ tạo thêm bản ghi mới, không bao giờ ghi đè.</a:t>
            </a:r>
          </a:p>
          <a:p>
            <a:pPr algn="l"/>
            <a:r>
              <a:rPr sz="1400" b="0" i="0">
                <a:solidFill>
                  <a:srgbClr val="C9D8E4"/>
                </a:solidFill>
                <a:latin typeface="Arial"/>
              </a:rPr>
              <a:t>• Popup bảo mật liệt kê rõ từng tệp được duyệt: một khóa AES chung cho cả lô, và mỗi file có thể đổi chế độ Công khai/Riêng tư hoặc đặt khóa riêng.</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chỉ cần thả file — hệ thống tự băm và tra cứu bản ghi theo hash nội dung, không cần nhớ mã; file bị đổi tên hay sửa nhẹ vẫn được gợi ý bản ghi nghi ngờ để đối chiếu với hash gốc trên Smart Contract.</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Vòng đời ví đầy đủ: duyệt — tạm khóa — mở khóa — xóa — đăng ký lại; ví bị khóa không thể tự mở, từ chối 3 lần chặn xin lại 30 phút.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Thiết bị mới phải được một thiết bị đang hoạt động duyệt, hoặc OTP về email khi không còn máy nào online — mỗi phiên ghi nhãn trình duyệt kèm phiên bản, IP và User-Agent để chủ ví nhận diện máy lạ. Khi mất hết neo tin cậy, cơ chế chờ 24 giờ giữ cho ví không bị khóa vĩnh viễn.</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 từng file</a:t>
            </a:r>
          </a:p>
          <a:p>
            <a:pPr>
              <a:lnSpc>
                <a:spcPct val="115000"/>
              </a:lnSpc>
              <a:spcAft>
                <a:spcPts val="800"/>
              </a:spcAft>
            </a:pPr>
            <a:r>
              <a:rPr sz="1300">
                <a:solidFill>
                  <a:srgbClr val="C9D8E4"/>
                </a:solidFill>
                <a:latin typeface="Arial"/>
              </a:rPr>
              <a:t>   Chế độ hiển thị và khóa AES đặt riêng cho từng file trong cùng một lô. Tài liệu công khai: mọi ví đã đăng nhập được server cấp lại khóa và xem trực tiếp. Tài liệu riêng tư: chỉ chủ sở hữu và Admin được cấp khóa, người khác chỉ thấy metadata.</a:t>
            </a:r>
          </a:p>
          <a:p>
            <a:pPr>
              <a:spcAft>
                <a:spcPts val="800"/>
              </a:spcAft>
            </a:pPr>
            <a:r>
              <a:rPr sz="1500" b="1">
                <a:solidFill>
                  <a:srgbClr val="0F9ED5"/>
                </a:solidFill>
                <a:latin typeface="Arial"/>
              </a:rPr>
              <a:t>▸ Kiểm soát trùng nội dung hai lớp theo ví</a:t>
            </a:r>
          </a:p>
          <a:p>
            <a:pPr>
              <a:lnSpc>
                <a:spcPct val="115000"/>
              </a:lnSpc>
              <a:spcAft>
                <a:spcPts val="800"/>
              </a:spcAft>
            </a:pPr>
            <a:r>
              <a:rPr sz="1300">
                <a:solidFill>
                  <a:srgbClr val="C9D8E4"/>
                </a:solidFill>
                <a:latin typeface="Arial"/>
              </a:rPr>
              <a:t>   Contract lưu sổ chống trùng riêng cho từng ví (multi-tenant): nội dung trùng của chính ví thì chỉ được bỏ qua, nội dung của ví khác upload bình thường như file mới — mỗi tổ chức giữ bản ghi và khóa riêng. Lớp kiểm tra lần cuối tự loại nội dung vừa được chính ví đóng dấu sau khi quét.</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 — ĐÓNG GÓP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7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01  </a:t>
            </a:r>
            <a:r>
              <a:rPr sz="1500" b="1">
                <a:solidFill>
                  <a:srgbClr val="FFFFFF"/>
                </a:solidFill>
                <a:latin typeface="Arial"/>
              </a:rPr>
              <a:t>Hệ thống hoàn chỉnh trên môi trường thật</a:t>
            </a:r>
          </a:p>
          <a:p>
            <a:pPr>
              <a:lnSpc>
                <a:spcPct val="120000"/>
              </a:lnSpc>
              <a:spcBef>
                <a:spcPts val="800"/>
              </a:spcBef>
            </a:pPr>
            <a:r>
              <a:rPr sz="1200">
                <a:solidFill>
                  <a:srgbClr val="C9D8E4"/>
                </a:solidFill>
                <a:latin typeface="Arial"/>
              </a:rPr>
              <a:t>Toàn bộ vòng đời tài liệu — đóng dấu, kiểm chứng, thu hồi — vận hành 24/7 trên Sepolia + IPFS; mọi giao dịch tra công khai trên Etherscan.</a:t>
            </a:r>
          </a:p>
        </p:txBody>
      </p:sp>
      <p:sp>
        <p:nvSpPr>
          <p:cNvPr id="8" name="Rounded Rectangle 7"/>
          <p:cNvSpPr/>
          <p:nvPr/>
        </p:nvSpPr>
        <p:spPr>
          <a:xfrm>
            <a:off x="62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02  </a:t>
            </a:r>
            <a:r>
              <a:rPr sz="1500" b="1">
                <a:solidFill>
                  <a:srgbClr val="FFFFFF"/>
                </a:solidFill>
                <a:latin typeface="Arial"/>
              </a:rPr>
              <a:t>Kiến trúc hash on-chain, nội dung off-chain</a:t>
            </a:r>
          </a:p>
          <a:p>
            <a:pPr>
              <a:lnSpc>
                <a:spcPct val="120000"/>
              </a:lnSpc>
              <a:spcBef>
                <a:spcPts val="800"/>
              </a:spcBef>
            </a:pPr>
            <a:r>
              <a:rPr sz="1200">
                <a:solidFill>
                  <a:srgbClr val="C9D8E4"/>
                </a:solidFill>
                <a:latin typeface="Arial"/>
              </a:rPr>
              <a:t>SHA-256 và quyền RBAC trong Smart Contract; nội dung AES-256 trên IPFS; khóa ủy thác bọc AES-256-GCM — tách rõ phần công khai và phần bảo mật.</a:t>
            </a:r>
          </a:p>
        </p:txBody>
      </p:sp>
      <p:sp>
        <p:nvSpPr>
          <p:cNvPr id="9" name="Rounded Rectangle 8"/>
          <p:cNvSpPr/>
          <p:nvPr/>
        </p:nvSpPr>
        <p:spPr>
          <a:xfrm>
            <a:off x="7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03  </a:t>
            </a:r>
            <a:r>
              <a:rPr sz="1500" b="1">
                <a:solidFill>
                  <a:srgbClr val="FFFFFF"/>
                </a:solidFill>
                <a:latin typeface="Arial"/>
              </a:rPr>
              <a:t>Xác thực không mật khẩu</a:t>
            </a:r>
          </a:p>
          <a:p>
            <a:pPr>
              <a:lnSpc>
                <a:spcPct val="120000"/>
              </a:lnSpc>
              <a:spcBef>
                <a:spcPts val="800"/>
              </a:spcBef>
            </a:pPr>
            <a:r>
              <a:rPr sz="1200">
                <a:solidFill>
                  <a:srgbClr val="C9D8E4"/>
                </a:solidFill>
                <a:latin typeface="Arial"/>
              </a:rPr>
              <a:t>Đăng nhập bằng chữ ký ví MetaMask, phiên JWT theo thiết bị, duyệt máy lạ và OTP email — loại bỏ hoàn toàn rủi ro rò rỉ mật khẩu truyền thống.</a:t>
            </a:r>
          </a:p>
        </p:txBody>
      </p:sp>
      <p:sp>
        <p:nvSpPr>
          <p:cNvPr id="10" name="Rounded Rectangle 9"/>
          <p:cNvSpPr/>
          <p:nvPr/>
        </p:nvSpPr>
        <p:spPr>
          <a:xfrm>
            <a:off x="62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04  </a:t>
            </a:r>
            <a:r>
              <a:rPr sz="1500" b="1">
                <a:solidFill>
                  <a:srgbClr val="FFFFFF"/>
                </a:solidFill>
                <a:latin typeface="Arial"/>
              </a:rPr>
              <a:t>Nghiệp vụ đầy đủ, kiểm chứng bằng test tự động</a:t>
            </a:r>
          </a:p>
          <a:p>
            <a:pPr>
              <a:lnSpc>
                <a:spcPct val="120000"/>
              </a:lnSpc>
              <a:spcBef>
                <a:spcPts val="800"/>
              </a:spcBef>
            </a:pPr>
            <a:r>
              <a:rPr sz="1200">
                <a:solidFill>
                  <a:srgbClr val="C9D8E4"/>
                </a:solidFill>
                <a:latin typeface="Arial"/>
              </a:rPr>
              <a:t>Upload lô một lần ký MetaMask, kiểm soát trùng nội dung hai lớp, khóa và chế độ chia sẻ riêng từng file, xem trước DOCX/PDF, API cho đối tác — bao phủ 144 ca kiểm thử (96 tự động + 48 end-to-end).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nhiều tài liệu — bảng phân loại trùng trước, rồi đặt chế độ và khóa AES riêng cho từng file</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khóa/mở khóa ví → đối chiếu trên sổ cái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