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00000"/>
            <a:ext cx="10363200" cy="1400000"/>
          </a:xfrm>
          <a:prstGeom prst="rect">
            <a:avLst/>
          </a:prstGeom>
          <a:noFill/>
        </p:spPr>
        <p:txBody>
          <a:bodyPr wrap="square" anchor="t">
            <a:spAutoFit/>
          </a:bodyPr>
          <a:lstStyle/>
          <a:p>
            <a:pPr algn="ctr"/>
            <a:r>
              <a:rPr sz="1600" b="1" i="0">
                <a:solidFill>
                  <a:srgbClr val="C9D8E4"/>
                </a:solidFill>
                <a:latin typeface="Arial"/>
              </a:rPr>
              <a:t>BỘ CÔNG THƯƠNG</a:t>
            </a:r>
          </a:p>
          <a:p>
            <a:pPr algn="ctr"/>
            <a:r>
              <a:rPr sz="1600" b="1" i="0">
                <a:solidFill>
                  <a:srgbClr val="C9D8E4"/>
                </a:solidFill>
                <a:latin typeface="Arial"/>
              </a:rPr>
              <a:t>TRƯỜNG ĐẠI HỌC ĐIỆN LỰC</a:t>
            </a:r>
          </a:p>
          <a:p>
            <a:pPr algn="ctr"/>
            <a:r>
              <a:rPr sz="1600" b="1" i="0">
                <a:solidFill>
                  <a:srgbClr val="C9D8E4"/>
                </a:solidFill>
                <a:latin typeface="Arial"/>
              </a:rPr>
              <a:t>KHOA CÔNG NGHỆ THÔNG TIN</a:t>
            </a:r>
          </a:p>
        </p:txBody>
      </p:sp>
      <p:sp>
        <p:nvSpPr>
          <p:cNvPr id="5" name="Rectangle 4"/>
          <p:cNvSpPr/>
          <p:nvPr/>
        </p:nvSpPr>
        <p:spPr>
          <a:xfrm>
            <a:off x="5029200" y="2350000"/>
            <a:ext cx="2133600" cy="36576"/>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650000"/>
            <a:ext cx="10363200" cy="400000"/>
          </a:xfrm>
          <a:prstGeom prst="rect">
            <a:avLst/>
          </a:prstGeom>
          <a:noFill/>
        </p:spPr>
        <p:txBody>
          <a:bodyPr wrap="square" anchor="t">
            <a:spAutoFit/>
          </a:bodyPr>
          <a:lstStyle/>
          <a:p>
            <a:pPr algn="ctr"/>
            <a:r>
              <a:rPr sz="2000" b="1" i="0">
                <a:solidFill>
                  <a:srgbClr val="E97132"/>
                </a:solidFill>
                <a:latin typeface="Arial"/>
              </a:rPr>
              <a:t>ĐỀ TÀI:</a:t>
            </a:r>
          </a:p>
        </p:txBody>
      </p:sp>
      <p:sp>
        <p:nvSpPr>
          <p:cNvPr id="7" name="TextBox 6"/>
          <p:cNvSpPr txBox="1"/>
          <p:nvPr/>
        </p:nvSpPr>
        <p:spPr>
          <a:xfrm>
            <a:off x="914400" y="3100000"/>
            <a:ext cx="10363200" cy="1900000"/>
          </a:xfrm>
          <a:prstGeom prst="rect">
            <a:avLst/>
          </a:prstGeom>
          <a:noFill/>
        </p:spPr>
        <p:txBody>
          <a:bodyPr wrap="square" anchor="t">
            <a:spAutoFit/>
          </a:bodyPr>
          <a:lstStyle/>
          <a:p>
            <a:pPr algn="ctr"/>
            <a:r>
              <a:rPr sz="2600" b="1" i="0">
                <a:solidFill>
                  <a:srgbClr val="FFFFFF"/>
                </a:solidFill>
                <a:latin typeface="Arial"/>
              </a:rPr>
              <a:t>TÌM HIỂU CÔNG NGHỆ BLOCKCHAIN VÀ ÁP DỤNG XÂY DỰNG HỆ THỐNG</a:t>
            </a:r>
          </a:p>
          <a:p>
            <a:pPr algn="ctr"/>
            <a:r>
              <a:rPr sz="2600" b="1" i="0">
                <a:solidFill>
                  <a:srgbClr val="FFFFFF"/>
                </a:solidFill>
                <a:latin typeface="Arial"/>
              </a:rPr>
              <a:t>XÁC THỰC VÀ CHỐNG GIẢ MẠO DỮ LIỆU SỐ</a:t>
            </a:r>
          </a:p>
        </p:txBody>
      </p:sp>
      <p:sp>
        <p:nvSpPr>
          <p:cNvPr id="8" name="TextBox 7"/>
          <p:cNvSpPr txBox="1"/>
          <p:nvPr/>
        </p:nvSpPr>
        <p:spPr>
          <a:xfrm>
            <a:off x="914400" y="5300000"/>
            <a:ext cx="10363200" cy="400000"/>
          </a:xfrm>
          <a:prstGeom prst="rect">
            <a:avLst/>
          </a:prstGeom>
          <a:noFill/>
        </p:spPr>
        <p:txBody>
          <a:bodyPr wrap="square" anchor="t">
            <a:spAutoFit/>
          </a:bodyPr>
          <a:lstStyle/>
          <a:p>
            <a:pPr algn="ctr"/>
            <a:r>
              <a:rPr sz="1400" b="0" i="0">
                <a:solidFill>
                  <a:srgbClr val="0F9ED5"/>
                </a:solidFill>
                <a:latin typeface="Arial"/>
              </a:rPr>
              <a:t>DataIntegrity — Sổ cái phân tán · Ethereum Sepolia · IPFS · AES-256</a:t>
            </a:r>
          </a:p>
        </p:txBody>
      </p:sp>
      <p:sp>
        <p:nvSpPr>
          <p:cNvPr id="9" name="Rectangle 8"/>
          <p:cNvSpPr/>
          <p:nvPr/>
        </p:nvSpPr>
        <p:spPr>
          <a:xfrm>
            <a:off x="0" y="6766560"/>
            <a:ext cx="12192000" cy="91440"/>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THỰC HIỆN ĐỀ TÀI</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02</a:t>
            </a:r>
          </a:p>
        </p:txBody>
      </p:sp>
      <p:sp>
        <p:nvSpPr>
          <p:cNvPr id="7" name="TextBox 6"/>
          <p:cNvSpPr txBox="1"/>
          <p:nvPr/>
        </p:nvSpPr>
        <p:spPr>
          <a:xfrm>
            <a:off x="1200000" y="1800000"/>
            <a:ext cx="9000000" cy="500000"/>
          </a:xfrm>
          <a:prstGeom prst="rect">
            <a:avLst/>
          </a:prstGeom>
          <a:noFill/>
        </p:spPr>
        <p:txBody>
          <a:bodyPr wrap="square" anchor="t">
            <a:spAutoFit/>
          </a:bodyPr>
          <a:lstStyle/>
          <a:p>
            <a:pPr algn="l"/>
            <a:r>
              <a:rPr sz="1800" b="1" i="0">
                <a:solidFill>
                  <a:srgbClr val="0F9ED5"/>
                </a:solidFill>
                <a:latin typeface="Arial"/>
              </a:rPr>
              <a:t>Giảng viên hướng dẫn:</a:t>
            </a:r>
          </a:p>
        </p:txBody>
      </p:sp>
      <p:sp>
        <p:nvSpPr>
          <p:cNvPr id="8" name="TextBox 7"/>
          <p:cNvSpPr txBox="1"/>
          <p:nvPr/>
        </p:nvSpPr>
        <p:spPr>
          <a:xfrm>
            <a:off x="1200000" y="2300000"/>
            <a:ext cx="9000000" cy="500000"/>
          </a:xfrm>
          <a:prstGeom prst="rect">
            <a:avLst/>
          </a:prstGeom>
          <a:noFill/>
        </p:spPr>
        <p:txBody>
          <a:bodyPr wrap="square" anchor="t">
            <a:spAutoFit/>
          </a:bodyPr>
          <a:lstStyle/>
          <a:p>
            <a:pPr algn="l"/>
            <a:r>
              <a:rPr sz="2200" b="1" i="0">
                <a:solidFill>
                  <a:srgbClr val="FFFFFF"/>
                </a:solidFill>
                <a:latin typeface="Arial"/>
              </a:rPr>
              <a:t>ThS. Đỗ Đức Cường</a:t>
            </a:r>
          </a:p>
        </p:txBody>
      </p:sp>
      <p:sp>
        <p:nvSpPr>
          <p:cNvPr id="9" name="Rectangle 8"/>
          <p:cNvSpPr/>
          <p:nvPr/>
        </p:nvSpPr>
        <p:spPr>
          <a:xfrm>
            <a:off x="1200000" y="3100000"/>
            <a:ext cx="32004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00000" y="3400000"/>
            <a:ext cx="9000000" cy="500000"/>
          </a:xfrm>
          <a:prstGeom prst="rect">
            <a:avLst/>
          </a:prstGeom>
          <a:noFill/>
        </p:spPr>
        <p:txBody>
          <a:bodyPr wrap="square" anchor="t">
            <a:spAutoFit/>
          </a:bodyPr>
          <a:lstStyle/>
          <a:p>
            <a:pPr algn="l"/>
            <a:r>
              <a:rPr sz="1800" b="1" i="0">
                <a:solidFill>
                  <a:srgbClr val="0F9ED5"/>
                </a:solidFill>
                <a:latin typeface="Arial"/>
              </a:rPr>
              <a:t>Chủ nhiệm đề tài:</a:t>
            </a:r>
          </a:p>
        </p:txBody>
      </p:sp>
      <p:sp>
        <p:nvSpPr>
          <p:cNvPr id="11" name="TextBox 10"/>
          <p:cNvSpPr txBox="1"/>
          <p:nvPr/>
        </p:nvSpPr>
        <p:spPr>
          <a:xfrm>
            <a:off x="1200000" y="3900000"/>
            <a:ext cx="9000000" cy="500000"/>
          </a:xfrm>
          <a:prstGeom prst="rect">
            <a:avLst/>
          </a:prstGeom>
          <a:noFill/>
        </p:spPr>
        <p:txBody>
          <a:bodyPr wrap="square" anchor="t">
            <a:spAutoFit/>
          </a:bodyPr>
          <a:lstStyle/>
          <a:p>
            <a:pPr algn="l"/>
            <a:r>
              <a:rPr sz="2200" b="1" i="0">
                <a:solidFill>
                  <a:srgbClr val="FFFFFF"/>
                </a:solidFill>
                <a:latin typeface="Arial"/>
              </a:rPr>
              <a:t>Lê Hồng Linh — 22810310058</a:t>
            </a:r>
          </a:p>
        </p:txBody>
      </p:sp>
      <p:sp>
        <p:nvSpPr>
          <p:cNvPr id="12" name="Rectangle 11"/>
          <p:cNvSpPr/>
          <p:nvPr/>
        </p:nvSpPr>
        <p:spPr>
          <a:xfrm>
            <a:off x="1200000" y="4700000"/>
            <a:ext cx="32004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0000" y="5000000"/>
            <a:ext cx="9000000" cy="500000"/>
          </a:xfrm>
          <a:prstGeom prst="rect">
            <a:avLst/>
          </a:prstGeom>
          <a:noFill/>
        </p:spPr>
        <p:txBody>
          <a:bodyPr wrap="square" anchor="t">
            <a:spAutoFit/>
          </a:bodyPr>
          <a:lstStyle/>
          <a:p>
            <a:pPr algn="l"/>
            <a:r>
              <a:rPr sz="1800" b="1" i="0">
                <a:solidFill>
                  <a:srgbClr val="0F9ED5"/>
                </a:solidFill>
                <a:latin typeface="Arial"/>
              </a:rPr>
              <a:t>Thành viên tham gia (D17CNPM1):</a:t>
            </a:r>
          </a:p>
        </p:txBody>
      </p:sp>
      <p:sp>
        <p:nvSpPr>
          <p:cNvPr id="14" name="TextBox 13"/>
          <p:cNvSpPr txBox="1"/>
          <p:nvPr/>
        </p:nvSpPr>
        <p:spPr>
          <a:xfrm>
            <a:off x="1200000" y="5500000"/>
            <a:ext cx="10000000" cy="1100000"/>
          </a:xfrm>
          <a:prstGeom prst="rect">
            <a:avLst/>
          </a:prstGeom>
          <a:noFill/>
        </p:spPr>
        <p:txBody>
          <a:bodyPr wrap="square" anchor="t">
            <a:spAutoFit/>
          </a:bodyPr>
          <a:lstStyle/>
          <a:p>
            <a:pPr algn="l"/>
            <a:r>
              <a:rPr sz="1900" b="0" i="0">
                <a:solidFill>
                  <a:srgbClr val="C9D8E4"/>
                </a:solidFill>
                <a:latin typeface="Arial"/>
              </a:rPr>
              <a:t>Nguyễn Xuân Hoàng Cường — 22810310036</a:t>
            </a:r>
          </a:p>
          <a:p>
            <a:pPr algn="l"/>
            <a:r>
              <a:rPr sz="1900" b="0" i="0">
                <a:solidFill>
                  <a:srgbClr val="C9D8E4"/>
                </a:solidFill>
                <a:latin typeface="Arial"/>
              </a:rPr>
              <a:t>Nguyễn Cao Nguyên — 22810310056</a:t>
            </a:r>
          </a:p>
          <a:p>
            <a:pPr algn="l"/>
            <a:r>
              <a:rPr sz="1900" b="0" i="0">
                <a:solidFill>
                  <a:srgbClr val="C9D8E4"/>
                </a:solidFill>
                <a:latin typeface="Arial"/>
              </a:rPr>
              <a:t>Nguyễn Quang Huy — 22810310051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TỔNG QUAN ĐỀ TÀI</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03</a:t>
            </a:r>
          </a:p>
        </p:txBody>
      </p:sp>
      <p:sp>
        <p:nvSpPr>
          <p:cNvPr id="7" name="Rounded Rectangle 6"/>
          <p:cNvSpPr/>
          <p:nvPr/>
        </p:nvSpPr>
        <p:spPr>
          <a:xfrm>
            <a:off x="1200000" y="1500000"/>
            <a:ext cx="4600000" cy="12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E97132"/>
                </a:solidFill>
                <a:latin typeface="Arial"/>
              </a:rPr>
              <a:t>01.</a:t>
            </a:r>
          </a:p>
          <a:p>
            <a:pPr algn="ctr"/>
            <a:r>
              <a:rPr sz="1500" b="1">
                <a:solidFill>
                  <a:srgbClr val="FFFFFF"/>
                </a:solidFill>
                <a:latin typeface="Arial"/>
              </a:rPr>
              <a:t>GIỚI THIỆU ĐỀ TÀI</a:t>
            </a:r>
          </a:p>
        </p:txBody>
      </p:sp>
      <p:sp>
        <p:nvSpPr>
          <p:cNvPr id="8" name="Rounded Rectangle 7"/>
          <p:cNvSpPr/>
          <p:nvPr/>
        </p:nvSpPr>
        <p:spPr>
          <a:xfrm>
            <a:off x="6400000" y="1500000"/>
            <a:ext cx="4600000" cy="12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E97132"/>
                </a:solidFill>
                <a:latin typeface="Arial"/>
              </a:rPr>
              <a:t>02.</a:t>
            </a:r>
          </a:p>
          <a:p>
            <a:pPr algn="ctr"/>
            <a:r>
              <a:rPr sz="1500" b="1">
                <a:solidFill>
                  <a:srgbClr val="FFFFFF"/>
                </a:solidFill>
                <a:latin typeface="Arial"/>
              </a:rPr>
              <a:t>GIÁ TRỊ THỰC TIỄN</a:t>
            </a:r>
          </a:p>
        </p:txBody>
      </p:sp>
      <p:sp>
        <p:nvSpPr>
          <p:cNvPr id="9" name="Rounded Rectangle 8"/>
          <p:cNvSpPr/>
          <p:nvPr/>
        </p:nvSpPr>
        <p:spPr>
          <a:xfrm>
            <a:off x="1200000" y="3100000"/>
            <a:ext cx="4600000" cy="12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E97132"/>
                </a:solidFill>
                <a:latin typeface="Arial"/>
              </a:rPr>
              <a:t>03.</a:t>
            </a:r>
          </a:p>
          <a:p>
            <a:pPr algn="ctr"/>
            <a:r>
              <a:rPr sz="1500" b="1">
                <a:solidFill>
                  <a:srgbClr val="FFFFFF"/>
                </a:solidFill>
                <a:latin typeface="Arial"/>
              </a:rPr>
              <a:t>MỤC TIÊU NGHIÊN CỨU</a:t>
            </a:r>
          </a:p>
        </p:txBody>
      </p:sp>
      <p:sp>
        <p:nvSpPr>
          <p:cNvPr id="10" name="Rounded Rectangle 9"/>
          <p:cNvSpPr/>
          <p:nvPr/>
        </p:nvSpPr>
        <p:spPr>
          <a:xfrm>
            <a:off x="6400000" y="3100000"/>
            <a:ext cx="4600000" cy="12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E97132"/>
                </a:solidFill>
                <a:latin typeface="Arial"/>
              </a:rPr>
              <a:t>04.</a:t>
            </a:r>
          </a:p>
          <a:p>
            <a:pPr algn="ctr"/>
            <a:r>
              <a:rPr sz="1500" b="1">
                <a:solidFill>
                  <a:srgbClr val="FFFFFF"/>
                </a:solidFill>
                <a:latin typeface="Arial"/>
              </a:rPr>
              <a:t>KIẾN TRÚC &amp; CÔNG NGHỆ</a:t>
            </a:r>
          </a:p>
        </p:txBody>
      </p:sp>
      <p:sp>
        <p:nvSpPr>
          <p:cNvPr id="11" name="Rounded Rectangle 10"/>
          <p:cNvSpPr/>
          <p:nvPr/>
        </p:nvSpPr>
        <p:spPr>
          <a:xfrm>
            <a:off x="1200000" y="4700000"/>
            <a:ext cx="4600000" cy="12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E97132"/>
                </a:solidFill>
                <a:latin typeface="Arial"/>
              </a:rPr>
              <a:t>05.</a:t>
            </a:r>
          </a:p>
          <a:p>
            <a:pPr algn="ctr"/>
            <a:r>
              <a:rPr sz="1500" b="1">
                <a:solidFill>
                  <a:srgbClr val="FFFFFF"/>
                </a:solidFill>
                <a:latin typeface="Arial"/>
              </a:rPr>
              <a:t>KẾT QUẢ NGHIÊN CỨU</a:t>
            </a:r>
          </a:p>
        </p:txBody>
      </p:sp>
      <p:sp>
        <p:nvSpPr>
          <p:cNvPr id="12" name="Rounded Rectangle 11"/>
          <p:cNvSpPr/>
          <p:nvPr/>
        </p:nvSpPr>
        <p:spPr>
          <a:xfrm>
            <a:off x="6400000" y="4700000"/>
            <a:ext cx="4600000" cy="12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E97132"/>
                </a:solidFill>
                <a:latin typeface="Arial"/>
              </a:rPr>
              <a:t>06.</a:t>
            </a:r>
          </a:p>
          <a:p>
            <a:pPr algn="ctr"/>
            <a:r>
              <a:rPr sz="1500" b="1">
                <a:solidFill>
                  <a:srgbClr val="FFFFFF"/>
                </a:solidFill>
                <a:latin typeface="Arial"/>
              </a:rPr>
              <a:t>Ý NGHĨA &amp; HƯỚNG PHÁT TRIỂN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01. GIỚI THIỆU ĐỀ TÀI</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04</a:t>
            </a:r>
          </a:p>
        </p:txBody>
      </p:sp>
      <p:sp>
        <p:nvSpPr>
          <p:cNvPr id="7" name="TextBox 6"/>
          <p:cNvSpPr txBox="1"/>
          <p:nvPr/>
        </p:nvSpPr>
        <p:spPr>
          <a:xfrm>
            <a:off x="700000" y="1300000"/>
            <a:ext cx="10800000" cy="5000000"/>
          </a:xfrm>
          <a:prstGeom prst="rect">
            <a:avLst/>
          </a:prstGeom>
          <a:noFill/>
        </p:spPr>
        <p:txBody>
          <a:bodyPr wrap="square">
            <a:spAutoFit/>
          </a:bodyPr>
          <a:lstStyle/>
          <a:p>
            <a:pPr>
              <a:spcAft>
                <a:spcPts val="1000"/>
              </a:spcAft>
            </a:pPr>
            <a:r>
              <a:rPr sz="1600" b="1">
                <a:solidFill>
                  <a:srgbClr val="0F9ED5"/>
                </a:solidFill>
                <a:latin typeface="Arial"/>
              </a:rPr>
              <a:t>▸ Bối cảnh thực tiễn</a:t>
            </a:r>
          </a:p>
          <a:p>
            <a:pPr>
              <a:lnSpc>
                <a:spcPct val="115000"/>
              </a:lnSpc>
              <a:spcAft>
                <a:spcPts val="1000"/>
              </a:spcAft>
            </a:pPr>
            <a:r>
              <a:rPr sz="1400">
                <a:solidFill>
                  <a:srgbClr val="C9D8E4"/>
                </a:solidFill>
                <a:latin typeface="Arial"/>
              </a:rPr>
              <a:t>   Trong kỷ nguyên số hóa, hầu hết giá trị thông tin của tổ chức đều tồn tại dưới dạng dữ liệu số: văn bằng, chứng chỉ, hồ sơ bệnh án, hợp đồng, chứng từ kế toán, tài liệu nghiên cứu. Việc trao đổi và lưu trữ những dữ liệu này diễn ra hằng ngày, trên nhiều hệ thống khác nhau.</a:t>
            </a:r>
          </a:p>
          <a:p>
            <a:pPr>
              <a:spcAft>
                <a:spcPts val="1000"/>
              </a:spcAft>
            </a:pPr>
            <a:r>
              <a:rPr sz="1600" b="1">
                <a:solidFill>
                  <a:srgbClr val="0F9ED5"/>
                </a:solidFill>
                <a:latin typeface="Arial"/>
              </a:rPr>
              <a:t>▸ Vấn đề đặt ra</a:t>
            </a:r>
          </a:p>
          <a:p>
            <a:pPr>
              <a:lnSpc>
                <a:spcPct val="115000"/>
              </a:lnSpc>
              <a:spcAft>
                <a:spcPts val="1000"/>
              </a:spcAft>
            </a:pPr>
            <a:r>
              <a:rPr sz="1400">
                <a:solidFill>
                  <a:srgbClr val="C9D8E4"/>
                </a:solidFill>
                <a:latin typeface="Arial"/>
              </a:rPr>
              <a:t>   Khác với giấy tờ có dấu đỏ và con dấu thật, dữ liệu số có thể bị sao chép, chỉnh sửa hoặc giả mạo mà gần như không để lại dấu vết. Các cơ chế xác thực truyền thống đều phải tin cậy vào một bên thứ ba tập trung — điểm yếu chí mạng nếu bên đó bị tấn công hoặc cố tình sửa đổi.</a:t>
            </a:r>
          </a:p>
          <a:p>
            <a:pPr>
              <a:spcAft>
                <a:spcPts val="1000"/>
              </a:spcAft>
            </a:pPr>
            <a:r>
              <a:rPr sz="1600" b="1">
                <a:solidFill>
                  <a:srgbClr val="0F9ED5"/>
                </a:solidFill>
                <a:latin typeface="Arial"/>
              </a:rPr>
              <a:t>▸ Hướng tiếp cận của đề tài</a:t>
            </a:r>
          </a:p>
          <a:p>
            <a:pPr>
              <a:lnSpc>
                <a:spcPct val="115000"/>
              </a:lnSpc>
              <a:spcAft>
                <a:spcPts val="1000"/>
              </a:spcAft>
            </a:pPr>
            <a:r>
              <a:rPr sz="1400">
                <a:solidFill>
                  <a:srgbClr val="C9D8E4"/>
                </a:solidFill>
                <a:latin typeface="Arial"/>
              </a:rPr>
              <a:t>   Blockchain cung cấp một sổ cái phân tán, bất biến và minh bạch: một khi dấu vết (hash) của tài liệu được ghi lên chuỗi, không ai — kể cả quản trị hệ thống — có thể sửa hay xóa ngược nó. Đây chính là nền tảng để xây dựng cơ chế xác thực độc lập.</a:t>
            </a:r>
          </a:p>
          <a:p>
            <a:pPr>
              <a:spcAft>
                <a:spcPts val="1000"/>
              </a:spcAft>
            </a:pPr>
            <a:r>
              <a:rPr sz="1600" b="1">
                <a:solidFill>
                  <a:srgbClr val="0F9ED5"/>
                </a:solidFill>
                <a:latin typeface="Arial"/>
              </a:rPr>
              <a:t>▸ Kết quả hướng tới</a:t>
            </a:r>
          </a:p>
          <a:p>
            <a:pPr>
              <a:lnSpc>
                <a:spcPct val="115000"/>
              </a:lnSpc>
              <a:spcAft>
                <a:spcPts val="1000"/>
              </a:spcAft>
            </a:pPr>
            <a:r>
              <a:rPr sz="1400">
                <a:solidFill>
                  <a:srgbClr val="C9D8E4"/>
                </a:solidFill>
                <a:latin typeface="Arial"/>
              </a:rPr>
              <a:t>   Đề tài xây dựng hệ thống DataIntegrity: đóng dấu hash tài liệu lên mạng Ethereum, mã hóa nội dung bằng AES-256 và lưu trữ trên IPFS, cho phép bất kỳ ai có quyền cũng xác thực được tính toàn vẹn của tài liệu chỉ trong vài giây.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02. GIÁ TRỊ THỰC TIỄN</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05</a:t>
            </a:r>
          </a:p>
        </p:txBody>
      </p:sp>
      <p:sp>
        <p:nvSpPr>
          <p:cNvPr id="7" name="TextBox 6"/>
          <p:cNvSpPr txBox="1"/>
          <p:nvPr/>
        </p:nvSpPr>
        <p:spPr>
          <a:xfrm>
            <a:off x="700000" y="1300000"/>
            <a:ext cx="10800000" cy="5000000"/>
          </a:xfrm>
          <a:prstGeom prst="rect">
            <a:avLst/>
          </a:prstGeom>
          <a:noFill/>
        </p:spPr>
        <p:txBody>
          <a:bodyPr wrap="square">
            <a:spAutoFit/>
          </a:bodyPr>
          <a:lstStyle/>
          <a:p>
            <a:pPr>
              <a:spcAft>
                <a:spcPts val="1000"/>
              </a:spcAft>
            </a:pPr>
            <a:r>
              <a:rPr sz="1600" b="1">
                <a:solidFill>
                  <a:srgbClr val="0F9ED5"/>
                </a:solidFill>
                <a:latin typeface="Arial"/>
              </a:rPr>
              <a:t>▸ Phát hiện giả mạo tức thì</a:t>
            </a:r>
          </a:p>
          <a:p>
            <a:pPr>
              <a:lnSpc>
                <a:spcPct val="115000"/>
              </a:lnSpc>
              <a:spcAft>
                <a:spcPts val="1000"/>
              </a:spcAft>
            </a:pPr>
            <a:r>
              <a:rPr sz="1400">
                <a:solidFill>
                  <a:srgbClr val="C9D8E4"/>
                </a:solidFill>
                <a:latin typeface="Arial"/>
              </a:rPr>
              <a:t>   Thuật toán băm SHA-256 đảm bảo chỉ cần thay đổi một byte trong nội dung, hash của tài liệu sẽ khác hoàn toàn. Khi đối chiếu với hash đã đóng dấu trên chuỗi, mọi hành vi sửa đổi đều lộ rõ — không thể che giấu.</a:t>
            </a:r>
          </a:p>
          <a:p>
            <a:pPr>
              <a:spcAft>
                <a:spcPts val="1000"/>
              </a:spcAft>
            </a:pPr>
            <a:r>
              <a:rPr sz="1600" b="1">
                <a:solidFill>
                  <a:srgbClr val="0F9ED5"/>
                </a:solidFill>
                <a:latin typeface="Arial"/>
              </a:rPr>
              <a:t>▸ Truy xuất nguồn gốc đầy đủ</a:t>
            </a:r>
          </a:p>
          <a:p>
            <a:pPr>
              <a:lnSpc>
                <a:spcPct val="115000"/>
              </a:lnSpc>
              <a:spcAft>
                <a:spcPts val="1000"/>
              </a:spcAft>
            </a:pPr>
            <a:r>
              <a:rPr sz="1400">
                <a:solidFill>
                  <a:srgbClr val="C9D8E4"/>
                </a:solidFill>
                <a:latin typeface="Arial"/>
              </a:rPr>
              <a:t>   Mỗi bản ghi trên blockchain lưu vĩnh viễn ai là người tạo (địa chỉ ví), thời điểm ghi và hash của tài liệu. Hệ thống vì vậy trả lời được câu hỏi "tài liệu này do ai tạo, vào lúc nào" mà không cần tin bất kỳ ai.</a:t>
            </a:r>
          </a:p>
          <a:p>
            <a:pPr>
              <a:spcAft>
                <a:spcPts val="1000"/>
              </a:spcAft>
            </a:pPr>
            <a:r>
              <a:rPr sz="1600" b="1">
                <a:solidFill>
                  <a:srgbClr val="0F9ED5"/>
                </a:solidFill>
                <a:latin typeface="Arial"/>
              </a:rPr>
              <a:t>▸ Chống chối bỏ trách nhiệm</a:t>
            </a:r>
          </a:p>
          <a:p>
            <a:pPr>
              <a:lnSpc>
                <a:spcPct val="115000"/>
              </a:lnSpc>
              <a:spcAft>
                <a:spcPts val="1000"/>
              </a:spcAft>
            </a:pPr>
            <a:r>
              <a:rPr sz="1400">
                <a:solidFill>
                  <a:srgbClr val="C9D8E4"/>
                </a:solidFill>
                <a:latin typeface="Arial"/>
              </a:rPr>
              <a:t>   Mọi giao dịch ghi chuỗi đều được ký bằng khóa riêng của ví người dùng. Người tạo tài liệu không thể phủ nhận hành vi của mình — đây là nền tảng cho tính pháp lý của dữ liệu điện tử.</a:t>
            </a:r>
          </a:p>
          <a:p>
            <a:pPr>
              <a:spcAft>
                <a:spcPts val="1000"/>
              </a:spcAft>
            </a:pPr>
            <a:r>
              <a:rPr sz="1600" b="1">
                <a:solidFill>
                  <a:srgbClr val="0F9ED5"/>
                </a:solidFill>
                <a:latin typeface="Arial"/>
              </a:rPr>
              <a:t>▸ Phạm vi ứng dụng</a:t>
            </a:r>
          </a:p>
          <a:p>
            <a:pPr>
              <a:lnSpc>
                <a:spcPct val="115000"/>
              </a:lnSpc>
              <a:spcAft>
                <a:spcPts val="1000"/>
              </a:spcAft>
            </a:pPr>
            <a:r>
              <a:rPr sz="1400">
                <a:solidFill>
                  <a:srgbClr val="C9D8E4"/>
                </a:solidFill>
                <a:latin typeface="Arial"/>
              </a:rPr>
              <a:t>   Văn bằng và chứng chỉ học thuật, hồ sơ y tế, hợp đồng điện tử, hồ sơ hành chính công, chứng từ tài chính, hay chính các tài liệu nghiên cứu khoa học cần chứng minh thời điểm công bố.</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03. MỤC TIÊU NGHIÊN CỨU</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06</a:t>
            </a:r>
          </a:p>
        </p:txBody>
      </p:sp>
      <p:sp>
        <p:nvSpPr>
          <p:cNvPr id="7" name="TextBox 6"/>
          <p:cNvSpPr txBox="1"/>
          <p:nvPr/>
        </p:nvSpPr>
        <p:spPr>
          <a:xfrm>
            <a:off x="700000" y="1300000"/>
            <a:ext cx="10800000" cy="5000000"/>
          </a:xfrm>
          <a:prstGeom prst="rect">
            <a:avLst/>
          </a:prstGeom>
          <a:noFill/>
        </p:spPr>
        <p:txBody>
          <a:bodyPr wrap="square">
            <a:spAutoFit/>
          </a:bodyPr>
          <a:lstStyle/>
          <a:p>
            <a:pPr>
              <a:spcAft>
                <a:spcPts val="1000"/>
              </a:spcAft>
            </a:pPr>
            <a:r>
              <a:rPr sz="1600" b="1">
                <a:solidFill>
                  <a:srgbClr val="0F9ED5"/>
                </a:solidFill>
                <a:latin typeface="Arial"/>
              </a:rPr>
              <a:t>▸ Nghiên cứu nền tảng lý thuyết</a:t>
            </a:r>
          </a:p>
          <a:p>
            <a:pPr>
              <a:lnSpc>
                <a:spcPct val="115000"/>
              </a:lnSpc>
              <a:spcAft>
                <a:spcPts val="1000"/>
              </a:spcAft>
            </a:pPr>
            <a:r>
              <a:rPr sz="1400">
                <a:solidFill>
                  <a:srgbClr val="C9D8E4"/>
                </a:solidFill>
                <a:latin typeface="Arial"/>
              </a:rPr>
              <a:t>   Tìm hiểu kiến trúc Blockchain và mô hình đồng thuật, cơ chế hoạt động của Smart Contract trên nền tảng Ethereum, cùng các chuẩn mật mã học nền tảng: hàm băm SHA-256 và mã hóa đối xứng AES-256.</a:t>
            </a:r>
          </a:p>
          <a:p>
            <a:pPr>
              <a:spcAft>
                <a:spcPts val="1000"/>
              </a:spcAft>
            </a:pPr>
            <a:r>
              <a:rPr sz="1600" b="1">
                <a:solidFill>
                  <a:srgbClr val="0F9ED5"/>
                </a:solidFill>
                <a:latin typeface="Arial"/>
              </a:rPr>
              <a:t>▸ Xây dựng hệ thống hoàn chỉnh</a:t>
            </a:r>
          </a:p>
          <a:p>
            <a:pPr>
              <a:lnSpc>
                <a:spcPct val="115000"/>
              </a:lnSpc>
              <a:spcAft>
                <a:spcPts val="1000"/>
              </a:spcAft>
            </a:pPr>
            <a:r>
              <a:rPr sz="1400">
                <a:solidFill>
                  <a:srgbClr val="C9D8E4"/>
                </a:solidFill>
                <a:latin typeface="Arial"/>
              </a:rPr>
              <a:t>   Phát triển ứng dụng web cho phép người dùng tải tài liệu lên: hệ thống băm nội dung, mã hóa bằng khóa người dùng tự đặt, đưa ciphertext lên IPFS và ghi hash cùng metadata lên Smart Contract qua ví MetaMask.</a:t>
            </a:r>
          </a:p>
          <a:p>
            <a:pPr>
              <a:spcAft>
                <a:spcPts val="1000"/>
              </a:spcAft>
            </a:pPr>
            <a:r>
              <a:rPr sz="1600" b="1">
                <a:solidFill>
                  <a:srgbClr val="0F9ED5"/>
                </a:solidFill>
                <a:latin typeface="Arial"/>
              </a:rPr>
              <a:t>▸ Đảm bảo an toàn và phân quyền</a:t>
            </a:r>
          </a:p>
          <a:p>
            <a:pPr>
              <a:lnSpc>
                <a:spcPct val="115000"/>
              </a:lnSpc>
              <a:spcAft>
                <a:spcPts val="1000"/>
              </a:spcAft>
            </a:pPr>
            <a:r>
              <a:rPr sz="1400">
                <a:solidFill>
                  <a:srgbClr val="C9D8E4"/>
                </a:solidFill>
                <a:latin typeface="Arial"/>
              </a:rPr>
              <a:t>   Xác thực người dùng bằng chữ ký số thay mật khẩu, phê duyệt thiết bị đăng nhập mới, phân quyền nhiều cấp (Nhập liệu – Quản lý – Admin thực thi trong Smart Contract, thêm vai trò Người xem chỉ đọc ở tầng server).</a:t>
            </a:r>
          </a:p>
          <a:p>
            <a:pPr>
              <a:spcAft>
                <a:spcPts val="1000"/>
              </a:spcAft>
            </a:pPr>
            <a:r>
              <a:rPr sz="1600" b="1">
                <a:solidFill>
                  <a:srgbClr val="0F9ED5"/>
                </a:solidFill>
                <a:latin typeface="Arial"/>
              </a:rPr>
              <a:t>▸ Vận hành và kiểm chứng thực tế</a:t>
            </a:r>
          </a:p>
          <a:p>
            <a:pPr>
              <a:lnSpc>
                <a:spcPct val="115000"/>
              </a:lnSpc>
              <a:spcAft>
                <a:spcPts val="1000"/>
              </a:spcAft>
            </a:pPr>
            <a:r>
              <a:rPr sz="1400">
                <a:solidFill>
                  <a:srgbClr val="C9D8E4"/>
                </a:solidFill>
                <a:latin typeface="Arial"/>
              </a:rPr>
              <a:t>   Triển khai hệ thống đầy đủ trên Sepolia Testnet, MongoDB Atlas, IPFS Pinata và Render — đảm bảo hệ thống hoạt động 24/7 với bộ kiểm thử tự động bao phủ các luồng nghiệp vụ chính.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04. KIẾN TRÚC HỆ THỐNG</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07</a:t>
            </a:r>
          </a:p>
        </p:txBody>
      </p:sp>
      <p:sp>
        <p:nvSpPr>
          <p:cNvPr id="7" name="Rounded Rectangle 6"/>
          <p:cNvSpPr/>
          <p:nvPr/>
        </p:nvSpPr>
        <p:spPr>
          <a:xfrm>
            <a:off x="457200" y="2300000"/>
            <a:ext cx="3200000" cy="13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TRÌNH DUYỆT NGƯỜI DÙNG</a:t>
            </a:r>
          </a:p>
          <a:p>
            <a:pPr algn="ctr"/>
            <a:r>
              <a:rPr sz="1000">
                <a:solidFill>
                  <a:srgbClr val="C9D8E4"/>
                </a:solidFill>
                <a:latin typeface="Arial"/>
              </a:rPr>
              <a:t>MetaMask · ethers.js · CryptoJS
Hash SHA-256 · Mã hóa AES-256</a:t>
            </a:r>
          </a:p>
        </p:txBody>
      </p:sp>
      <p:sp>
        <p:nvSpPr>
          <p:cNvPr id="8" name="Right Arrow 7"/>
          <p:cNvSpPr/>
          <p:nvPr/>
        </p:nvSpPr>
        <p:spPr>
          <a:xfrm>
            <a:off x="3750000" y="2800000"/>
            <a:ext cx="500000" cy="300000"/>
          </a:xfrm>
          <a:prstGeom prst="rightArrow">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50000" y="2300000"/>
            <a:ext cx="3400000" cy="13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BACKEND NODE.JS + EXPRESS</a:t>
            </a:r>
          </a:p>
          <a:p>
            <a:pPr algn="ctr"/>
            <a:r>
              <a:rPr sz="1000">
                <a:solidFill>
                  <a:srgbClr val="C9D8E4"/>
                </a:solidFill>
                <a:latin typeface="Arial"/>
              </a:rPr>
              <a:t>JWT · Phân quyền · Thông báo
MongoDB Atlas</a:t>
            </a:r>
          </a:p>
        </p:txBody>
      </p:sp>
      <p:sp>
        <p:nvSpPr>
          <p:cNvPr id="10" name="Right Arrow 9"/>
          <p:cNvSpPr/>
          <p:nvPr/>
        </p:nvSpPr>
        <p:spPr>
          <a:xfrm>
            <a:off x="7850000" y="2800000"/>
            <a:ext cx="500000" cy="300000"/>
          </a:xfrm>
          <a:prstGeom prst="rightArrow">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450000" y="1400000"/>
            <a:ext cx="3300000" cy="1200000"/>
          </a:xfrm>
          <a:prstGeom prst="roundRect">
            <a:avLst/>
          </a:prstGeom>
          <a:solidFill>
            <a:srgbClr val="4EA72E"/>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ETHEREUM SEPOLIA</a:t>
            </a:r>
          </a:p>
          <a:p>
            <a:pPr algn="ctr"/>
            <a:r>
              <a:rPr sz="1000">
                <a:solidFill>
                  <a:srgbClr val="C9D8E4"/>
                </a:solidFill>
                <a:latin typeface="Arial"/>
              </a:rPr>
              <a:t>Smart Contract Solidity
DocumentAdded · DocumentRevoked · RBAC</a:t>
            </a:r>
          </a:p>
        </p:txBody>
      </p:sp>
      <p:sp>
        <p:nvSpPr>
          <p:cNvPr id="12" name="Rounded Rectangle 11"/>
          <p:cNvSpPr/>
          <p:nvPr/>
        </p:nvSpPr>
        <p:spPr>
          <a:xfrm>
            <a:off x="8450000" y="3500000"/>
            <a:ext cx="3300000" cy="12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IPFS / PINATA</a:t>
            </a:r>
          </a:p>
          <a:p>
            <a:pPr algn="ctr"/>
            <a:r>
              <a:rPr sz="1000">
                <a:solidFill>
                  <a:srgbClr val="C9D8E4"/>
                </a:solidFill>
                <a:latin typeface="Arial"/>
              </a:rPr>
              <a:t>Ciphertext đã mã hóa
Định danh bất biến bằng CID</a:t>
            </a:r>
          </a:p>
        </p:txBody>
      </p:sp>
      <p:sp>
        <p:nvSpPr>
          <p:cNvPr id="13" name="TextBox 12"/>
          <p:cNvSpPr txBox="1"/>
          <p:nvPr/>
        </p:nvSpPr>
        <p:spPr>
          <a:xfrm>
            <a:off x="8450000" y="2800000"/>
            <a:ext cx="3300000" cy="400000"/>
          </a:xfrm>
          <a:prstGeom prst="rect">
            <a:avLst/>
          </a:prstGeom>
          <a:noFill/>
        </p:spPr>
        <p:txBody>
          <a:bodyPr wrap="square" anchor="t">
            <a:spAutoFit/>
          </a:bodyPr>
          <a:lstStyle/>
          <a:p>
            <a:pPr algn="ctr"/>
            <a:r>
              <a:rPr sz="1600" b="1" i="0">
                <a:solidFill>
                  <a:srgbClr val="0F9ED5"/>
                </a:solidFill>
                <a:latin typeface="Arial"/>
              </a:rPr>
              <a:t>▲▼</a:t>
            </a:r>
          </a:p>
        </p:txBody>
      </p:sp>
      <p:sp>
        <p:nvSpPr>
          <p:cNvPr id="14" name="TextBox 13"/>
          <p:cNvSpPr txBox="1"/>
          <p:nvPr/>
        </p:nvSpPr>
        <p:spPr>
          <a:xfrm>
            <a:off x="800000" y="4400000"/>
            <a:ext cx="10600000" cy="2100000"/>
          </a:xfrm>
          <a:prstGeom prst="rect">
            <a:avLst/>
          </a:prstGeom>
          <a:noFill/>
        </p:spPr>
        <p:txBody>
          <a:bodyPr wrap="square" anchor="t">
            <a:spAutoFit/>
          </a:bodyPr>
          <a:lstStyle/>
          <a:p>
            <a:pPr algn="l"/>
            <a:r>
              <a:rPr sz="1400" b="0" i="0">
                <a:solidFill>
                  <a:srgbClr val="C9D8E4"/>
                </a:solidFill>
                <a:latin typeface="Arial"/>
              </a:rPr>
              <a:t>• Nội dung tài liệu chỉ rời trình duyệt sau khi ĐÃ được mã hóa — plaintext không bao giờ chạm internet; khóa mã hóa nằm ở người dùng hoặc được bọc bởi khóa chủ của server.</a:t>
            </a:r>
          </a:p>
          <a:p>
            <a:pPr algn="l"/>
            <a:r>
              <a:rPr sz="1400" b="0" i="0">
                <a:solidFill>
                  <a:srgbClr val="C9D8E4"/>
                </a:solidFill>
                <a:latin typeface="Arial"/>
              </a:rPr>
              <a:t>• Blockchain đóng vai trò nguồn sự thật: hash, người tạo, thời điểm và trạng thái thu hồi. MongoDB chỉ lưu metadata phục vụ vận hành (tên file, dung lượng, chế độ chia sẻ).</a:t>
            </a:r>
          </a:p>
          <a:p>
            <a:pPr algn="l"/>
            <a:r>
              <a:rPr sz="1400" b="0" i="0">
                <a:solidFill>
                  <a:srgbClr val="C9D8E4"/>
                </a:solidFill>
                <a:latin typeface="Arial"/>
              </a:rPr>
              <a:t>• Mọi yêu cầu kiểm chứng đều truy vấn trực tiếp Smart Contract — hệ thống không tin bất kỳ dữ liệu nào do phía client tự khai báo.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04. CÔNG NGHỆ SỬ DỤNG</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08</a:t>
            </a:r>
          </a:p>
        </p:txBody>
      </p:sp>
      <p:sp>
        <p:nvSpPr>
          <p:cNvPr id="7" name="TextBox 6"/>
          <p:cNvSpPr txBox="1"/>
          <p:nvPr/>
        </p:nvSpPr>
        <p:spPr>
          <a:xfrm>
            <a:off x="700000" y="1350000"/>
            <a:ext cx="5300000" cy="5000000"/>
          </a:xfrm>
          <a:prstGeom prst="rect">
            <a:avLst/>
          </a:prstGeom>
          <a:noFill/>
        </p:spPr>
        <p:txBody>
          <a:bodyPr wrap="square">
            <a:spAutoFit/>
          </a:bodyPr>
          <a:lstStyle/>
          <a:p>
            <a:pPr>
              <a:spcAft>
                <a:spcPts val="800"/>
              </a:spcAft>
            </a:pPr>
            <a:r>
              <a:rPr sz="1500" b="1">
                <a:solidFill>
                  <a:srgbClr val="0F9ED5"/>
                </a:solidFill>
                <a:latin typeface="Arial"/>
              </a:rPr>
              <a:t>▸ Ethereum Sepolia Testnet</a:t>
            </a:r>
          </a:p>
          <a:p>
            <a:pPr>
              <a:lnSpc>
                <a:spcPct val="115000"/>
              </a:lnSpc>
              <a:spcAft>
                <a:spcPts val="800"/>
              </a:spcAft>
            </a:pPr>
            <a:r>
              <a:rPr sz="1300">
                <a:solidFill>
                  <a:srgbClr val="C9D8E4"/>
                </a:solidFill>
                <a:latin typeface="Arial"/>
              </a:rPr>
              <a:t>   Mạng thử nghiệm Proof-of-Stake, mô phỏng đầy đủ mainnet với chi phí gas miễn phí — phù hợp triển khai và đánh giá thực tế.</a:t>
            </a:r>
          </a:p>
          <a:p>
            <a:pPr>
              <a:spcAft>
                <a:spcPts val="800"/>
              </a:spcAft>
            </a:pPr>
            <a:r>
              <a:rPr sz="1500" b="1">
                <a:solidFill>
                  <a:srgbClr val="0F9ED5"/>
                </a:solidFill>
                <a:latin typeface="Arial"/>
              </a:rPr>
              <a:t>▸ Smart Contract (Solidity)</a:t>
            </a:r>
          </a:p>
          <a:p>
            <a:pPr>
              <a:lnSpc>
                <a:spcPct val="115000"/>
              </a:lnSpc>
              <a:spcAft>
                <a:spcPts val="800"/>
              </a:spcAft>
            </a:pPr>
            <a:r>
              <a:rPr sz="1300">
                <a:solidFill>
                  <a:srgbClr val="C9D8E4"/>
                </a:solidFill>
                <a:latin typeface="Arial"/>
              </a:rPr>
              <a:t>   Ghi nhận tài liệu theo lô, thu hồi kèm lý do, lưu trữ vai trò RBAC và phát sinh sự kiện truy vết.</a:t>
            </a:r>
          </a:p>
          <a:p>
            <a:pPr>
              <a:spcAft>
                <a:spcPts val="800"/>
              </a:spcAft>
            </a:pPr>
            <a:r>
              <a:rPr sz="1500" b="1">
                <a:solidFill>
                  <a:srgbClr val="0F9ED5"/>
                </a:solidFill>
                <a:latin typeface="Arial"/>
              </a:rPr>
              <a:t>▸ ethers.js v6 + MetaMask</a:t>
            </a:r>
          </a:p>
          <a:p>
            <a:pPr>
              <a:lnSpc>
                <a:spcPct val="115000"/>
              </a:lnSpc>
              <a:spcAft>
                <a:spcPts val="800"/>
              </a:spcAft>
            </a:pPr>
            <a:r>
              <a:rPr sz="1300">
                <a:solidFill>
                  <a:srgbClr val="C9D8E4"/>
                </a:solidFill>
                <a:latin typeface="Arial"/>
              </a:rPr>
              <a:t>   Kết nối ví, ký giao dịch, đọc sự kiện chuỗi và kiểm tra quyền trực tiếp trên contract.</a:t>
            </a:r>
          </a:p>
          <a:p>
            <a:pPr>
              <a:spcAft>
                <a:spcPts val="800"/>
              </a:spcAft>
            </a:pPr>
            <a:r>
              <a:rPr sz="1500" b="1">
                <a:solidFill>
                  <a:srgbClr val="0F9ED5"/>
                </a:solidFill>
                <a:latin typeface="Arial"/>
              </a:rPr>
              <a:t>▸ AES-256 (CryptoJS)</a:t>
            </a:r>
          </a:p>
          <a:p>
            <a:pPr>
              <a:lnSpc>
                <a:spcPct val="115000"/>
              </a:lnSpc>
              <a:spcAft>
                <a:spcPts val="800"/>
              </a:spcAft>
            </a:pPr>
            <a:r>
              <a:rPr sz="1300">
                <a:solidFill>
                  <a:srgbClr val="C9D8E4"/>
                </a:solidFill>
                <a:latin typeface="Arial"/>
              </a:rPr>
              <a:t>   Mã hóa nội dung file ngay trong trình duyệt trước khi đưa lên IPFS — dữ liệu rõ không bao giờ rời máy người dùng.</a:t>
            </a:r>
          </a:p>
          <a:p>
            <a:pPr>
              <a:spcAft>
                <a:spcPts val="800"/>
              </a:spcAft>
            </a:pPr>
            <a:r>
              <a:rPr sz="1500" b="1">
                <a:solidFill>
                  <a:srgbClr val="0F9ED5"/>
                </a:solidFill>
                <a:latin typeface="Arial"/>
              </a:rPr>
              <a:t>▸ SHA-256</a:t>
            </a:r>
          </a:p>
          <a:p>
            <a:pPr>
              <a:lnSpc>
                <a:spcPct val="115000"/>
              </a:lnSpc>
              <a:spcAft>
                <a:spcPts val="800"/>
              </a:spcAft>
            </a:pPr>
            <a:r>
              <a:rPr sz="1300">
                <a:solidFill>
                  <a:srgbClr val="C9D8E4"/>
                </a:solidFill>
                <a:latin typeface="Arial"/>
              </a:rPr>
              <a:t>   Sinh dấu vết toàn vẹn của tài liệu; mọi thay đổi dù nhỏ nhất đều làm hash sai lệch hoàn toàn.</a:t>
            </a:r>
          </a:p>
        </p:txBody>
      </p:sp>
      <p:sp>
        <p:nvSpPr>
          <p:cNvPr id="8" name="TextBox 7"/>
          <p:cNvSpPr txBox="1"/>
          <p:nvPr/>
        </p:nvSpPr>
        <p:spPr>
          <a:xfrm>
            <a:off x="6300000" y="1350000"/>
            <a:ext cx="5200000" cy="5000000"/>
          </a:xfrm>
          <a:prstGeom prst="rect">
            <a:avLst/>
          </a:prstGeom>
          <a:noFill/>
        </p:spPr>
        <p:txBody>
          <a:bodyPr wrap="square">
            <a:spAutoFit/>
          </a:bodyPr>
          <a:lstStyle/>
          <a:p>
            <a:pPr>
              <a:spcAft>
                <a:spcPts val="800"/>
              </a:spcAft>
            </a:pPr>
            <a:r>
              <a:rPr sz="1500" b="1">
                <a:solidFill>
                  <a:srgbClr val="0F9ED5"/>
                </a:solidFill>
                <a:latin typeface="Arial"/>
              </a:rPr>
              <a:t>▸ IPFS / Pinata</a:t>
            </a:r>
          </a:p>
          <a:p>
            <a:pPr>
              <a:lnSpc>
                <a:spcPct val="115000"/>
              </a:lnSpc>
              <a:spcAft>
                <a:spcPts val="800"/>
              </a:spcAft>
            </a:pPr>
            <a:r>
              <a:rPr sz="1300">
                <a:solidFill>
                  <a:srgbClr val="C9D8E4"/>
                </a:solidFill>
                <a:latin typeface="Arial"/>
              </a:rPr>
              <a:t>   Hệ thống lưu trữ phi tập trung; mỗi file được định danh bằng CID theo nội dung, không thể thay thế lén.</a:t>
            </a:r>
          </a:p>
          <a:p>
            <a:pPr>
              <a:spcAft>
                <a:spcPts val="800"/>
              </a:spcAft>
            </a:pPr>
            <a:r>
              <a:rPr sz="1500" b="1">
                <a:solidFill>
                  <a:srgbClr val="0F9ED5"/>
                </a:solidFill>
                <a:latin typeface="Arial"/>
              </a:rPr>
              <a:t>▸ Node.js 22 + Express</a:t>
            </a:r>
          </a:p>
          <a:p>
            <a:pPr>
              <a:lnSpc>
                <a:spcPct val="115000"/>
              </a:lnSpc>
              <a:spcAft>
                <a:spcPts val="800"/>
              </a:spcAft>
            </a:pPr>
            <a:r>
              <a:rPr sz="1300">
                <a:solidFill>
                  <a:srgbClr val="C9D8E4"/>
                </a:solidFill>
                <a:latin typeface="Arial"/>
              </a:rPr>
              <a:t>   API xác thực, đồng bộ trạng thái, quản lý phiên thiết bị và thông báo điều hành.</a:t>
            </a:r>
          </a:p>
          <a:p>
            <a:pPr>
              <a:spcAft>
                <a:spcPts val="800"/>
              </a:spcAft>
            </a:pPr>
            <a:r>
              <a:rPr sz="1500" b="1">
                <a:solidFill>
                  <a:srgbClr val="0F9ED5"/>
                </a:solidFill>
                <a:latin typeface="Arial"/>
              </a:rPr>
              <a:t>▸ MongoDB Atlas</a:t>
            </a:r>
          </a:p>
          <a:p>
            <a:pPr>
              <a:lnSpc>
                <a:spcPct val="115000"/>
              </a:lnSpc>
              <a:spcAft>
                <a:spcPts val="800"/>
              </a:spcAft>
            </a:pPr>
            <a:r>
              <a:rPr sz="1300">
                <a:solidFill>
                  <a:srgbClr val="C9D8E4"/>
                </a:solidFill>
                <a:latin typeface="Arial"/>
              </a:rPr>
              <a:t>   Lưu metadata tài liệu, hồ sơ ví và quyền, phiên thiết bị đăng nhập, API key của đối tác.</a:t>
            </a:r>
          </a:p>
          <a:p>
            <a:pPr>
              <a:spcAft>
                <a:spcPts val="800"/>
              </a:spcAft>
            </a:pPr>
            <a:r>
              <a:rPr sz="1500" b="1">
                <a:solidFill>
                  <a:srgbClr val="0F9ED5"/>
                </a:solidFill>
                <a:latin typeface="Arial"/>
              </a:rPr>
              <a:t>▸ JWT + chữ ký ví</a:t>
            </a:r>
          </a:p>
          <a:p>
            <a:pPr>
              <a:lnSpc>
                <a:spcPct val="115000"/>
              </a:lnSpc>
              <a:spcAft>
                <a:spcPts val="800"/>
              </a:spcAft>
            </a:pPr>
            <a:r>
              <a:rPr sz="1300">
                <a:solidFill>
                  <a:srgbClr val="C9D8E4"/>
                </a:solidFill>
                <a:latin typeface="Arial"/>
              </a:rPr>
              <a:t>   Đăng nhập không mật khẩu: server phát thử thách, ví ký bằng khóa riêng, hệ thống cấp phiên JWT.</a:t>
            </a:r>
          </a:p>
          <a:p>
            <a:pPr>
              <a:spcAft>
                <a:spcPts val="800"/>
              </a:spcAft>
            </a:pPr>
            <a:r>
              <a:rPr sz="1500" b="1">
                <a:solidFill>
                  <a:srgbClr val="0F9ED5"/>
                </a:solidFill>
                <a:latin typeface="Arial"/>
              </a:rPr>
              <a:t>▸ Render + GitHub</a:t>
            </a:r>
          </a:p>
          <a:p>
            <a:pPr>
              <a:lnSpc>
                <a:spcPct val="115000"/>
              </a:lnSpc>
              <a:spcAft>
                <a:spcPts val="800"/>
              </a:spcAft>
            </a:pPr>
            <a:r>
              <a:rPr sz="1300">
                <a:solidFill>
                  <a:srgbClr val="C9D8E4"/>
                </a:solidFill>
                <a:latin typeface="Arial"/>
              </a:rPr>
              <a:t>   Triển khai tự động mỗi khi push code — phiên bản mới luôn sẵn sàng phục vụ trên môi trường thật.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04. LUỒNG ĐÓNG DẤU TÀI LIỆU</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09</a:t>
            </a:r>
          </a:p>
        </p:txBody>
      </p:sp>
      <p:sp>
        <p:nvSpPr>
          <p:cNvPr id="7" name="Rounded Rectangle 6"/>
          <p:cNvSpPr/>
          <p:nvPr/>
        </p:nvSpPr>
        <p:spPr>
          <a:xfrm>
            <a:off x="400000" y="2050000"/>
            <a:ext cx="1400000" cy="11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Chọn file
(kéo-thả,
≤100/lô)</a:t>
            </a:r>
          </a:p>
        </p:txBody>
      </p:sp>
      <p:sp>
        <p:nvSpPr>
          <p:cNvPr id="8" name="Right Arrow 7"/>
          <p:cNvSpPr/>
          <p:nvPr/>
        </p:nvSpPr>
        <p:spPr>
          <a:xfrm>
            <a:off x="1810000" y="2450000"/>
            <a:ext cx="200000" cy="300000"/>
          </a:xfrm>
          <a:prstGeom prst="rightArrow">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020000" y="2050000"/>
            <a:ext cx="1400000" cy="1100000"/>
          </a:xfrm>
          <a:prstGeom prst="roundRect">
            <a:avLst/>
          </a:prstGeom>
          <a:solidFill>
            <a:srgbClr val="E9713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Băm SHA-256
nội dung gốc</a:t>
            </a:r>
          </a:p>
        </p:txBody>
      </p:sp>
      <p:sp>
        <p:nvSpPr>
          <p:cNvPr id="10" name="Right Arrow 9"/>
          <p:cNvSpPr/>
          <p:nvPr/>
        </p:nvSpPr>
        <p:spPr>
          <a:xfrm>
            <a:off x="3430000" y="2450000"/>
            <a:ext cx="200000" cy="300000"/>
          </a:xfrm>
          <a:prstGeom prst="rightArrow">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40000" y="2050000"/>
            <a:ext cx="1400000" cy="11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Nhập khóa
AES-256</a:t>
            </a:r>
          </a:p>
        </p:txBody>
      </p:sp>
      <p:sp>
        <p:nvSpPr>
          <p:cNvPr id="12" name="Right Arrow 11"/>
          <p:cNvSpPr/>
          <p:nvPr/>
        </p:nvSpPr>
        <p:spPr>
          <a:xfrm>
            <a:off x="5050000" y="2450000"/>
            <a:ext cx="200000" cy="300000"/>
          </a:xfrm>
          <a:prstGeom prst="rightArrow">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260000" y="2050000"/>
            <a:ext cx="1400000" cy="11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Mã hóa
toàn bộ file</a:t>
            </a:r>
          </a:p>
        </p:txBody>
      </p:sp>
      <p:sp>
        <p:nvSpPr>
          <p:cNvPr id="14" name="Right Arrow 13"/>
          <p:cNvSpPr/>
          <p:nvPr/>
        </p:nvSpPr>
        <p:spPr>
          <a:xfrm>
            <a:off x="6670000" y="2450000"/>
            <a:ext cx="200000" cy="300000"/>
          </a:xfrm>
          <a:prstGeom prst="rightArrow">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880000" y="2050000"/>
            <a:ext cx="1400000" cy="11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Đẩy ciphertext
lên IPFS → CID</a:t>
            </a:r>
          </a:p>
        </p:txBody>
      </p:sp>
      <p:sp>
        <p:nvSpPr>
          <p:cNvPr id="16" name="Right Arrow 15"/>
          <p:cNvSpPr/>
          <p:nvPr/>
        </p:nvSpPr>
        <p:spPr>
          <a:xfrm>
            <a:off x="8290000" y="2450000"/>
            <a:ext cx="200000" cy="300000"/>
          </a:xfrm>
          <a:prstGeom prst="rightArrow">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500000" y="2050000"/>
            <a:ext cx="1400000" cy="1100000"/>
          </a:xfrm>
          <a:prstGeom prst="roundRect">
            <a:avLst/>
          </a:prstGeom>
          <a:solidFill>
            <a:srgbClr val="E9713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MetaMask ký
addDocuments</a:t>
            </a:r>
          </a:p>
        </p:txBody>
      </p:sp>
      <p:sp>
        <p:nvSpPr>
          <p:cNvPr id="18" name="Right Arrow 17"/>
          <p:cNvSpPr/>
          <p:nvPr/>
        </p:nvSpPr>
        <p:spPr>
          <a:xfrm>
            <a:off x="9910000" y="2450000"/>
            <a:ext cx="200000" cy="300000"/>
          </a:xfrm>
          <a:prstGeom prst="rightArrow">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20000" y="2050000"/>
            <a:ext cx="1400000" cy="11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rial"/>
              </a:rPr>
              <a:t>Ghi metadata
→ MongoDB</a:t>
            </a:r>
          </a:p>
        </p:txBody>
      </p:sp>
      <p:sp>
        <p:nvSpPr>
          <p:cNvPr id="20" name="TextBox 19"/>
          <p:cNvSpPr txBox="1"/>
          <p:nvPr/>
        </p:nvSpPr>
        <p:spPr>
          <a:xfrm>
            <a:off x="700000" y="3700000"/>
            <a:ext cx="10800000" cy="2700000"/>
          </a:xfrm>
          <a:prstGeom prst="rect">
            <a:avLst/>
          </a:prstGeom>
          <a:noFill/>
        </p:spPr>
        <p:txBody>
          <a:bodyPr wrap="square" anchor="t">
            <a:spAutoFit/>
          </a:bodyPr>
          <a:lstStyle/>
          <a:p>
            <a:pPr algn="l"/>
            <a:r>
              <a:rPr sz="1400" b="0" i="0">
                <a:solidFill>
                  <a:srgbClr val="C9D8E4"/>
                </a:solidFill>
                <a:latin typeface="Arial"/>
              </a:rPr>
              <a:t>Những điểm mấu chốt của thiết kế:</a:t>
            </a:r>
          </a:p>
          <a:p>
            <a:pPr algn="l"/>
            <a:r>
              <a:rPr sz="1400" b="0" i="0">
                <a:solidFill>
                  <a:srgbClr val="C9D8E4"/>
                </a:solidFill>
                <a:latin typeface="Arial"/>
              </a:rPr>
              <a:t>• Trước khi upload, hệ thống đối chiếu hash của file với sổ cái — nếu nội dung đã từng được đóng dấu, người dùng được cảnh báo để tránh ghi trùng tốn phí gas.</a:t>
            </a:r>
          </a:p>
          <a:p>
            <a:pPr algn="l"/>
            <a:r>
              <a:rPr sz="1400" b="0" i="0">
                <a:solidFill>
                  <a:srgbClr val="C9D8E4"/>
                </a:solidFill>
                <a:latin typeface="Arial"/>
              </a:rPr>
              <a:t>• Một giao dịch duy nhất có thể đóng dấu tới 100 tài liệu (hàm addDocuments) — người dùng chỉ cần ký MetaMask một lần cho cả lô, tiết kiệm gas và thời gian thao tác.</a:t>
            </a:r>
          </a:p>
          <a:p>
            <a:pPr algn="l"/>
            <a:r>
              <a:rPr sz="1400" b="0" i="0">
                <a:solidFill>
                  <a:srgbClr val="C9D8E4"/>
                </a:solidFill>
                <a:latin typeface="Arial"/>
              </a:rPr>
              <a:t>• Giao dịch blockchain được ghi xong mới lưu metadata vào MongoDB; nếu bước lưu bị lỗi, hàng đợi trong trình duyệt sẽ tự động thử lại ở phiên đăng nhập sau, tránh mất dấu tài liệu.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04. XÁC THỰC &amp; THU HỒI TÀI LIỆU</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10</a:t>
            </a:r>
          </a:p>
        </p:txBody>
      </p:sp>
      <p:sp>
        <p:nvSpPr>
          <p:cNvPr id="7" name="TextBox 6"/>
          <p:cNvSpPr txBox="1"/>
          <p:nvPr/>
        </p:nvSpPr>
        <p:spPr>
          <a:xfrm>
            <a:off x="700000" y="1350000"/>
            <a:ext cx="5300000" cy="4900000"/>
          </a:xfrm>
          <a:prstGeom prst="rect">
            <a:avLst/>
          </a:prstGeom>
          <a:noFill/>
        </p:spPr>
        <p:txBody>
          <a:bodyPr wrap="square">
            <a:spAutoFit/>
          </a:bodyPr>
          <a:lstStyle/>
          <a:p>
            <a:pPr>
              <a:spcAft>
                <a:spcPts val="800"/>
              </a:spcAft>
            </a:pPr>
            <a:r>
              <a:rPr sz="1500" b="1">
                <a:solidFill>
                  <a:srgbClr val="0F9ED5"/>
                </a:solidFill>
                <a:latin typeface="Arial"/>
              </a:rPr>
              <a:t>▸ Cơ chế kiểm chứng</a:t>
            </a:r>
          </a:p>
          <a:p>
            <a:pPr>
              <a:lnSpc>
                <a:spcPct val="115000"/>
              </a:lnSpc>
              <a:spcAft>
                <a:spcPts val="800"/>
              </a:spcAft>
            </a:pPr>
            <a:r>
              <a:rPr sz="1300">
                <a:solidFill>
                  <a:srgbClr val="C9D8E4"/>
                </a:solidFill>
                <a:latin typeface="Arial"/>
              </a:rPr>
              <a:t>   Người kiểm tra chọn file cần đối chiếu và nhập mã tài liệu. Hệ thống đọc hash gốc trực tiếp từ Smart Contract, đồng thời băm lại file hiện có và so sánh hai giá trị.</a:t>
            </a:r>
          </a:p>
          <a:p>
            <a:pPr>
              <a:spcAft>
                <a:spcPts val="800"/>
              </a:spcAft>
            </a:pPr>
            <a:r>
              <a:rPr sz="1500" b="1">
                <a:solidFill>
                  <a:srgbClr val="0F9ED5"/>
                </a:solidFill>
                <a:latin typeface="Arial"/>
              </a:rPr>
              <a:t>▸ Ba kết quả rõ ràng</a:t>
            </a:r>
          </a:p>
          <a:p>
            <a:pPr>
              <a:lnSpc>
                <a:spcPct val="115000"/>
              </a:lnSpc>
              <a:spcAft>
                <a:spcPts val="800"/>
              </a:spcAft>
            </a:pPr>
            <a:r>
              <a:rPr sz="1300">
                <a:solidFill>
                  <a:srgbClr val="C9D8E4"/>
                </a:solidFill>
                <a:latin typeface="Arial"/>
              </a:rPr>
              <a:t>   VERIFIED — hash khớp, tài liệu nguyên bản. FAILED — hash sai lệch, tài liệu đã bị sửa đổi. REVOKED — nội dung nguyên bản nhưng đã bị vô hiệu hóa, không còn giá trị sử dụng.</a:t>
            </a:r>
          </a:p>
          <a:p>
            <a:pPr>
              <a:spcAft>
                <a:spcPts val="800"/>
              </a:spcAft>
            </a:pPr>
            <a:r>
              <a:rPr sz="1500" b="1">
                <a:solidFill>
                  <a:srgbClr val="0F9ED5"/>
                </a:solidFill>
                <a:latin typeface="Arial"/>
              </a:rPr>
              <a:t>▸ Truy xuất nguồn gốc</a:t>
            </a:r>
          </a:p>
          <a:p>
            <a:pPr>
              <a:lnSpc>
                <a:spcPct val="115000"/>
              </a:lnSpc>
              <a:spcAft>
                <a:spcPts val="800"/>
              </a:spcAft>
            </a:pPr>
            <a:r>
              <a:rPr sz="1300">
                <a:solidFill>
                  <a:srgbClr val="C9D8E4"/>
                </a:solidFill>
                <a:latin typeface="Arial"/>
              </a:rPr>
              <a:t>   Mọi kết quả đều kèm thông tin ví người tạo và thời điểm ghi lên chuỗi, giúp truy vết đầy đủ vòng đời của tài liệu.</a:t>
            </a:r>
          </a:p>
        </p:txBody>
      </p:sp>
      <p:sp>
        <p:nvSpPr>
          <p:cNvPr id="8" name="TextBox 7"/>
          <p:cNvSpPr txBox="1"/>
          <p:nvPr/>
        </p:nvSpPr>
        <p:spPr>
          <a:xfrm>
            <a:off x="6400000" y="1350000"/>
            <a:ext cx="5100000" cy="4900000"/>
          </a:xfrm>
          <a:prstGeom prst="rect">
            <a:avLst/>
          </a:prstGeom>
          <a:noFill/>
        </p:spPr>
        <p:txBody>
          <a:bodyPr wrap="square">
            <a:spAutoFit/>
          </a:bodyPr>
          <a:lstStyle/>
          <a:p>
            <a:pPr>
              <a:spcAft>
                <a:spcPts val="800"/>
              </a:spcAft>
            </a:pPr>
            <a:r>
              <a:rPr sz="1500" b="1">
                <a:solidFill>
                  <a:srgbClr val="0F9ED5"/>
                </a:solidFill>
                <a:latin typeface="Arial"/>
              </a:rPr>
              <a:t>▸ Quyền thu hồi</a:t>
            </a:r>
          </a:p>
          <a:p>
            <a:pPr>
              <a:lnSpc>
                <a:spcPct val="115000"/>
              </a:lnSpc>
              <a:spcAft>
                <a:spcPts val="800"/>
              </a:spcAft>
            </a:pPr>
            <a:r>
              <a:rPr sz="1300">
                <a:solidFill>
                  <a:srgbClr val="C9D8E4"/>
                </a:solidFill>
                <a:latin typeface="Arial"/>
              </a:rPr>
              <a:t>   Chỉ Admin và Quản lý được thu hồi; tài liệu do ví Admin tải lên thì chỉ Admin được thu hồi — quy tắc này được thực thi ngay trong Smart Contract, không thể lách từ giao diện.</a:t>
            </a:r>
          </a:p>
          <a:p>
            <a:pPr>
              <a:spcAft>
                <a:spcPts val="800"/>
              </a:spcAft>
            </a:pPr>
            <a:r>
              <a:rPr sz="1500" b="1">
                <a:solidFill>
                  <a:srgbClr val="0F9ED5"/>
                </a:solidFill>
                <a:latin typeface="Arial"/>
              </a:rPr>
              <a:t>▸ Ghi on-chain trước, đồng bộ sau</a:t>
            </a:r>
          </a:p>
          <a:p>
            <a:pPr>
              <a:lnSpc>
                <a:spcPct val="115000"/>
              </a:lnSpc>
              <a:spcAft>
                <a:spcPts val="800"/>
              </a:spcAft>
            </a:pPr>
            <a:r>
              <a:rPr sz="1300">
                <a:solidFill>
                  <a:srgbClr val="C9D8E4"/>
                </a:solidFill>
                <a:latin typeface="Arial"/>
              </a:rPr>
              <a:t>   Sự kiện DocumentRevoked kèm lý do được ghi vĩnh viễn trên chuỗi trước, sau đó hệ thống mới cập nhật cờ trong MongoDB — blockchain luôn là nguồn chuẩn.</a:t>
            </a:r>
          </a:p>
          <a:p>
            <a:pPr>
              <a:spcAft>
                <a:spcPts val="800"/>
              </a:spcAft>
            </a:pPr>
            <a:r>
              <a:rPr sz="1500" b="1">
                <a:solidFill>
                  <a:srgbClr val="0F9ED5"/>
                </a:solidFill>
                <a:latin typeface="Arial"/>
              </a:rPr>
              <a:t>▸ Hoàn trả dung lượng</a:t>
            </a:r>
          </a:p>
          <a:p>
            <a:pPr>
              <a:lnSpc>
                <a:spcPct val="115000"/>
              </a:lnSpc>
              <a:spcAft>
                <a:spcPts val="800"/>
              </a:spcAft>
            </a:pPr>
            <a:r>
              <a:rPr sz="1300">
                <a:solidFill>
                  <a:srgbClr val="C9D8E4"/>
                </a:solidFill>
                <a:latin typeface="Arial"/>
              </a:rPr>
              <a:t>   Khi tài liệu bị thu hồi, dung lượng lưu trữ của ví tải lên được hoàn trả tự động, phục vụ quản lý quota.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04. CÁC CHỨC NĂNG NỔI BẬT</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11</a:t>
            </a:r>
          </a:p>
        </p:txBody>
      </p:sp>
      <p:sp>
        <p:nvSpPr>
          <p:cNvPr id="7" name="TextBox 6"/>
          <p:cNvSpPr txBox="1"/>
          <p:nvPr/>
        </p:nvSpPr>
        <p:spPr>
          <a:xfrm>
            <a:off x="700000" y="1350000"/>
            <a:ext cx="5300000" cy="5000000"/>
          </a:xfrm>
          <a:prstGeom prst="rect">
            <a:avLst/>
          </a:prstGeom>
          <a:noFill/>
        </p:spPr>
        <p:txBody>
          <a:bodyPr wrap="square">
            <a:spAutoFit/>
          </a:bodyPr>
          <a:lstStyle/>
          <a:p>
            <a:pPr>
              <a:spcAft>
                <a:spcPts val="800"/>
              </a:spcAft>
            </a:pPr>
            <a:r>
              <a:rPr sz="1500" b="1">
                <a:solidFill>
                  <a:srgbClr val="0F9ED5"/>
                </a:solidFill>
                <a:latin typeface="Arial"/>
              </a:rPr>
              <a:t>▸ Phân quyền RBAC trên chuỗi</a:t>
            </a:r>
          </a:p>
          <a:p>
            <a:pPr>
              <a:lnSpc>
                <a:spcPct val="115000"/>
              </a:lnSpc>
              <a:spcAft>
                <a:spcPts val="800"/>
              </a:spcAft>
            </a:pPr>
            <a:r>
              <a:rPr sz="1300">
                <a:solidFill>
                  <a:srgbClr val="C9D8E4"/>
                </a:solidFill>
                <a:latin typeface="Arial"/>
              </a:rPr>
              <a:t>   Ba cấp quyền kế thừa lũy tiến NHẬP LIỆU (rank 1) → QUẢN LÝ (rank 2) → ADMIN (rank 3) được lưu và kiểm tra trực tiếp trên contract; vai trò NGƯỜI XEM chỉ đọc bổ sung ở tầng backend. Mọi quyền ghi do chính contract chặn — sửa database cũng không leo thang được quyền.</a:t>
            </a:r>
          </a:p>
          <a:p>
            <a:pPr>
              <a:spcAft>
                <a:spcPts val="800"/>
              </a:spcAft>
            </a:pPr>
            <a:r>
              <a:rPr sz="1500" b="1">
                <a:solidFill>
                  <a:srgbClr val="0F9ED5"/>
                </a:solidFill>
                <a:latin typeface="Arial"/>
              </a:rPr>
              <a:t>▸ Đăng nhập bằng chữ ký ví</a:t>
            </a:r>
          </a:p>
          <a:p>
            <a:pPr>
              <a:lnSpc>
                <a:spcPct val="115000"/>
              </a:lnSpc>
              <a:spcAft>
                <a:spcPts val="800"/>
              </a:spcAft>
            </a:pPr>
            <a:r>
              <a:rPr sz="1300">
                <a:solidFill>
                  <a:srgbClr val="C9D8E4"/>
                </a:solidFill>
                <a:latin typeface="Arial"/>
              </a:rPr>
              <a:t>   Không dùng mật khẩu: server gửi một thử thách ngẫu nhiên, ví ký bằng khóa riêng, hệ thống xác minh và cấp phiên JWT — loại bỏ hoàn toàn nguy cơ rò rỉ mật khẩu.</a:t>
            </a:r>
          </a:p>
          <a:p>
            <a:pPr>
              <a:spcAft>
                <a:spcPts val="800"/>
              </a:spcAft>
            </a:pPr>
            <a:r>
              <a:rPr sz="1500" b="1">
                <a:solidFill>
                  <a:srgbClr val="0F9ED5"/>
                </a:solidFill>
                <a:latin typeface="Arial"/>
              </a:rPr>
              <a:t>▸ Phê duyệt thiết bị lạ</a:t>
            </a:r>
          </a:p>
          <a:p>
            <a:pPr>
              <a:lnSpc>
                <a:spcPct val="115000"/>
              </a:lnSpc>
              <a:spcAft>
                <a:spcPts val="800"/>
              </a:spcAft>
            </a:pPr>
            <a:r>
              <a:rPr sz="1300">
                <a:solidFill>
                  <a:srgbClr val="C9D8E4"/>
                </a:solidFill>
                <a:latin typeface="Arial"/>
              </a:rPr>
              <a:t>   Mỗi thiết bị đăng nhập mới phải được một thiết bị đang hoạt động phê duyệt, hoặc xác nhận qua mã OTP gửi email — ngăn đăng nhập trái phép kể cả khi lộ khóa.</a:t>
            </a:r>
          </a:p>
        </p:txBody>
      </p:sp>
      <p:sp>
        <p:nvSpPr>
          <p:cNvPr id="8" name="TextBox 7"/>
          <p:cNvSpPr txBox="1"/>
          <p:nvPr/>
        </p:nvSpPr>
        <p:spPr>
          <a:xfrm>
            <a:off x="6400000" y="1350000"/>
            <a:ext cx="5100000" cy="5000000"/>
          </a:xfrm>
          <a:prstGeom prst="rect">
            <a:avLst/>
          </a:prstGeom>
          <a:noFill/>
        </p:spPr>
        <p:txBody>
          <a:bodyPr wrap="square">
            <a:spAutoFit/>
          </a:bodyPr>
          <a:lstStyle/>
          <a:p>
            <a:pPr>
              <a:spcAft>
                <a:spcPts val="800"/>
              </a:spcAft>
            </a:pPr>
            <a:r>
              <a:rPr sz="1500" b="1">
                <a:solidFill>
                  <a:srgbClr val="0F9ED5"/>
                </a:solidFill>
                <a:latin typeface="Arial"/>
              </a:rPr>
              <a:t>▸ Chia sẻ Công khai / Riêng tư</a:t>
            </a:r>
          </a:p>
          <a:p>
            <a:pPr>
              <a:lnSpc>
                <a:spcPct val="115000"/>
              </a:lnSpc>
              <a:spcAft>
                <a:spcPts val="800"/>
              </a:spcAft>
            </a:pPr>
            <a:r>
              <a:rPr sz="1300">
                <a:solidFill>
                  <a:srgbClr val="C9D8E4"/>
                </a:solidFill>
                <a:latin typeface="Arial"/>
              </a:rPr>
              <a:t>   Tài liệu công khai: mọi ví đã đăng nhập được server cấp lại khóa và xem trực tiếp. Tài liệu riêng tư: chỉ chủ sở hữu và Admin được cấp khóa, người khác chỉ thấy metadata.</a:t>
            </a:r>
          </a:p>
          <a:p>
            <a:pPr>
              <a:spcAft>
                <a:spcPts val="800"/>
              </a:spcAft>
            </a:pPr>
            <a:r>
              <a:rPr sz="1500" b="1">
                <a:solidFill>
                  <a:srgbClr val="0F9ED5"/>
                </a:solidFill>
                <a:latin typeface="Arial"/>
              </a:rPr>
              <a:t>▸ Cảnh báo upload trùng</a:t>
            </a:r>
          </a:p>
          <a:p>
            <a:pPr>
              <a:lnSpc>
                <a:spcPct val="115000"/>
              </a:lnSpc>
              <a:spcAft>
                <a:spcPts val="800"/>
              </a:spcAft>
            </a:pPr>
            <a:r>
              <a:rPr sz="1300">
                <a:solidFill>
                  <a:srgbClr val="C9D8E4"/>
                </a:solidFill>
                <a:latin typeface="Arial"/>
              </a:rPr>
              <a:t>   Trước khi ghi chuỗi, hệ thống so sánh hash file với các bản ghi hiện có và cảnh báo kèm mã tài liệu cũ — người dùng quyết định có tiếp tục hay không.</a:t>
            </a:r>
          </a:p>
          <a:p>
            <a:pPr>
              <a:spcAft>
                <a:spcPts val="800"/>
              </a:spcAft>
            </a:pPr>
            <a:r>
              <a:rPr sz="1500" b="1">
                <a:solidFill>
                  <a:srgbClr val="0F9ED5"/>
                </a:solidFill>
                <a:latin typeface="Arial"/>
              </a:rPr>
              <a:t>▸ API key cho đối tác</a:t>
            </a:r>
          </a:p>
          <a:p>
            <a:pPr>
              <a:lnSpc>
                <a:spcPct val="115000"/>
              </a:lnSpc>
              <a:spcAft>
                <a:spcPts val="800"/>
              </a:spcAft>
            </a:pPr>
            <a:r>
              <a:rPr sz="1300">
                <a:solidFill>
                  <a:srgbClr val="C9D8E4"/>
                </a:solidFill>
                <a:latin typeface="Arial"/>
              </a:rPr>
              <a:t>   Hệ thống bên ngoài có thể tải tài liệu tự động qua API key riêng; server tự sinh khóa AES-256, bọc bằng khóa chủ và ghi chuỗi như người dùng thường.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05. KẾT QUẢ NGHIÊN CỨU</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12</a:t>
            </a:r>
          </a:p>
        </p:txBody>
      </p:sp>
      <p:sp>
        <p:nvSpPr>
          <p:cNvPr id="7" name="Rounded Rectangle 6"/>
          <p:cNvSpPr/>
          <p:nvPr/>
        </p:nvSpPr>
        <p:spPr>
          <a:xfrm>
            <a:off x="800000" y="1500000"/>
            <a:ext cx="2400000" cy="15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E97132"/>
                </a:solidFill>
                <a:latin typeface="Arial"/>
              </a:rPr>
              <a:t>2</a:t>
            </a:r>
          </a:p>
          <a:p>
            <a:pPr algn="ctr"/>
            <a:r>
              <a:rPr sz="1200">
                <a:solidFill>
                  <a:srgbClr val="C9D8E4"/>
                </a:solidFill>
                <a:latin typeface="Arial"/>
              </a:rPr>
              <a:t>Smart Contract
đã triển khai trên Sepolia</a:t>
            </a:r>
          </a:p>
        </p:txBody>
      </p:sp>
      <p:sp>
        <p:nvSpPr>
          <p:cNvPr id="8" name="Rounded Rectangle 7"/>
          <p:cNvSpPr/>
          <p:nvPr/>
        </p:nvSpPr>
        <p:spPr>
          <a:xfrm>
            <a:off x="3500000" y="1500000"/>
            <a:ext cx="2400000" cy="15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E97132"/>
                </a:solidFill>
                <a:latin typeface="Arial"/>
              </a:rPr>
              <a:t>117</a:t>
            </a:r>
          </a:p>
          <a:p>
            <a:pPr algn="ctr"/>
            <a:r>
              <a:rPr sz="1200">
                <a:solidFill>
                  <a:srgbClr val="C9D8E4"/>
                </a:solidFill>
                <a:latin typeface="Arial"/>
              </a:rPr>
              <a:t>Test tự động
79 unit + 38 e2e đều đạt</a:t>
            </a:r>
          </a:p>
        </p:txBody>
      </p:sp>
      <p:sp>
        <p:nvSpPr>
          <p:cNvPr id="9" name="Rounded Rectangle 8"/>
          <p:cNvSpPr/>
          <p:nvPr/>
        </p:nvSpPr>
        <p:spPr>
          <a:xfrm>
            <a:off x="6200000" y="1500000"/>
            <a:ext cx="2400000" cy="15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E97132"/>
                </a:solidFill>
                <a:latin typeface="Arial"/>
              </a:rPr>
              <a:t>24/7</a:t>
            </a:r>
          </a:p>
          <a:p>
            <a:pPr algn="ctr"/>
            <a:r>
              <a:rPr sz="1200">
                <a:solidFill>
                  <a:srgbClr val="C9D8E4"/>
                </a:solidFill>
                <a:latin typeface="Arial"/>
              </a:rPr>
              <a:t>Vận hành thực tế
Render · Atlas · Pinata</a:t>
            </a:r>
          </a:p>
        </p:txBody>
      </p:sp>
      <p:sp>
        <p:nvSpPr>
          <p:cNvPr id="10" name="Rounded Rectangle 9"/>
          <p:cNvSpPr/>
          <p:nvPr/>
        </p:nvSpPr>
        <p:spPr>
          <a:xfrm>
            <a:off x="8900000" y="1500000"/>
            <a:ext cx="2400000" cy="1500000"/>
          </a:xfrm>
          <a:prstGeom prst="roundRect">
            <a:avLst/>
          </a:prstGeom>
          <a:solidFill>
            <a:srgbClr val="156082"/>
          </a:solidFill>
          <a:ln w="15875">
            <a:solidFill>
              <a:srgbClr val="0F9E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E97132"/>
                </a:solidFill>
                <a:latin typeface="Arial"/>
              </a:rPr>
              <a:t>4</a:t>
            </a:r>
          </a:p>
          <a:p>
            <a:pPr algn="ctr"/>
            <a:r>
              <a:rPr sz="1200">
                <a:solidFill>
                  <a:srgbClr val="C9D8E4"/>
                </a:solidFill>
                <a:latin typeface="Arial"/>
              </a:rPr>
              <a:t>Vai trò RBAC
thực thi trong contract</a:t>
            </a:r>
          </a:p>
        </p:txBody>
      </p:sp>
      <p:sp>
        <p:nvSpPr>
          <p:cNvPr id="11" name="TextBox 10"/>
          <p:cNvSpPr txBox="1"/>
          <p:nvPr/>
        </p:nvSpPr>
        <p:spPr>
          <a:xfrm>
            <a:off x="700000" y="3400000"/>
            <a:ext cx="10800000" cy="2900000"/>
          </a:xfrm>
          <a:prstGeom prst="rect">
            <a:avLst/>
          </a:prstGeom>
          <a:noFill/>
        </p:spPr>
        <p:txBody>
          <a:bodyPr wrap="square">
            <a:spAutoFit/>
          </a:bodyPr>
          <a:lstStyle/>
          <a:p>
            <a:pPr>
              <a:spcAft>
                <a:spcPts val="800"/>
              </a:spcAft>
            </a:pPr>
            <a:r>
              <a:rPr sz="1500" b="1">
                <a:solidFill>
                  <a:srgbClr val="0F9ED5"/>
                </a:solidFill>
                <a:latin typeface="Arial"/>
              </a:rPr>
              <a:t>▸ Hệ thống chạy trên môi trường thật</a:t>
            </a:r>
          </a:p>
          <a:p>
            <a:pPr>
              <a:lnSpc>
                <a:spcPct val="115000"/>
              </a:lnSpc>
              <a:spcAft>
                <a:spcPts val="800"/>
              </a:spcAft>
            </a:pPr>
            <a:r>
              <a:rPr sz="1300">
                <a:solidFill>
                  <a:srgbClr val="C9D8E4"/>
                </a:solidFill>
                <a:latin typeface="Arial"/>
              </a:rPr>
              <a:t>   Contract 0xAf1e…dF74 đang hoạt động trên Sepolia; giao diện triển khai tại blockchain-data-integrity.onrender.com. Toàn bộ luồng tải lên — đóng dấu — kiểm chứng — thu hồi đều thao tác trực tiếp được.</a:t>
            </a:r>
          </a:p>
          <a:p>
            <a:pPr>
              <a:spcAft>
                <a:spcPts val="800"/>
              </a:spcAft>
            </a:pPr>
            <a:r>
              <a:rPr sz="1500" b="1">
                <a:solidFill>
                  <a:srgbClr val="0F9ED5"/>
                </a:solidFill>
                <a:latin typeface="Arial"/>
              </a:rPr>
              <a:t>▸ Phát hiện giả mạo ở mức bit</a:t>
            </a:r>
          </a:p>
          <a:p>
            <a:pPr>
              <a:lnSpc>
                <a:spcPct val="115000"/>
              </a:lnSpc>
              <a:spcAft>
                <a:spcPts val="800"/>
              </a:spcAft>
            </a:pPr>
            <a:r>
              <a:rPr sz="1300">
                <a:solidFill>
                  <a:srgbClr val="C9D8E4"/>
                </a:solidFill>
                <a:latin typeface="Arial"/>
              </a:rPr>
              <a:t>   Mọi chỉnh sửa dù nhỏ nhất đều bị phát hiện: verify so sánh SHA-256 của file nộp với bản ghi on-chain — đổi một ký tự là đổi toàn bộ dấu vân tay. Tài liệu đã thu hồi được cảnh báo riêng kèm lý do thay vì chỉ báo đúng/sai.</a:t>
            </a:r>
          </a:p>
          <a:p>
            <a:pPr>
              <a:spcAft>
                <a:spcPts val="800"/>
              </a:spcAft>
            </a:pPr>
            <a:r>
              <a:rPr sz="1500" b="1">
                <a:solidFill>
                  <a:srgbClr val="0F9ED5"/>
                </a:solidFill>
                <a:latin typeface="Arial"/>
              </a:rPr>
              <a:t>▸ Kiến trúc chống mất dữ liệu</a:t>
            </a:r>
          </a:p>
          <a:p>
            <a:pPr>
              <a:lnSpc>
                <a:spcPct val="115000"/>
              </a:lnSpc>
              <a:spcAft>
                <a:spcPts val="800"/>
              </a:spcAft>
            </a:pPr>
            <a:r>
              <a:rPr sz="1300">
                <a:solidFill>
                  <a:srgbClr val="C9D8E4"/>
                </a:solidFill>
                <a:latin typeface="Arial"/>
              </a:rPr>
              <a:t>   Metadata lưu MongoDB qua endpoint ghi lũy đẳng kèm hàng đợi tự phục hồi phía client; cache sự kiện on-chain chỉ tiến con trỏ trên đoạn quét liền kề nên bản ghi không bao giờ bị bỏ sót.</a:t>
            </a:r>
          </a:p>
          <a:p>
            <a:pPr>
              <a:spcAft>
                <a:spcPts val="800"/>
              </a:spcAft>
            </a:pPr>
            <a:r>
              <a:rPr sz="1500" b="1">
                <a:solidFill>
                  <a:srgbClr val="0F9ED5"/>
                </a:solidFill>
                <a:latin typeface="Arial"/>
              </a:rPr>
              <a:t>▸ Bảo mật nhiều lớp phối hợp</a:t>
            </a:r>
          </a:p>
          <a:p>
            <a:pPr>
              <a:lnSpc>
                <a:spcPct val="115000"/>
              </a:lnSpc>
              <a:spcAft>
                <a:spcPts val="800"/>
              </a:spcAft>
            </a:pPr>
            <a:r>
              <a:rPr sz="1300">
                <a:solidFill>
                  <a:srgbClr val="C9D8E4"/>
                </a:solidFill>
                <a:latin typeface="Arial"/>
              </a:rPr>
              <a:t>   Chữ ký ví thay mật khẩu, phiên JWT có thời hạn, phê duyệt thiết bị bằng OTP, phân quyền ngay trong contract, mã hóa AES-256 phía client và bọc khóa bằng khóa chủ phía server.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05. KỊCH BẢN TRÌNH DIỄN</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13</a:t>
            </a:r>
          </a:p>
        </p:txBody>
      </p:sp>
      <p:sp>
        <p:nvSpPr>
          <p:cNvPr id="7" name="Rounded Rectangle 6"/>
          <p:cNvSpPr/>
          <p:nvPr/>
        </p:nvSpPr>
        <p:spPr>
          <a:xfrm>
            <a:off x="900000" y="1350000"/>
            <a:ext cx="640080" cy="46000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8" name="TextBox 7"/>
          <p:cNvSpPr txBox="1"/>
          <p:nvPr/>
        </p:nvSpPr>
        <p:spPr>
          <a:xfrm>
            <a:off x="1700000" y="1400000"/>
            <a:ext cx="9600000" cy="700000"/>
          </a:xfrm>
          <a:prstGeom prst="rect">
            <a:avLst/>
          </a:prstGeom>
          <a:noFill/>
        </p:spPr>
        <p:txBody>
          <a:bodyPr wrap="square" anchor="t">
            <a:spAutoFit/>
          </a:bodyPr>
          <a:lstStyle/>
          <a:p>
            <a:pPr algn="l"/>
            <a:r>
              <a:rPr sz="1500" b="0" i="0">
                <a:solidFill>
                  <a:srgbClr val="FFFFFF"/>
                </a:solidFill>
                <a:latin typeface="Arial"/>
              </a:rPr>
              <a:t>Đăng nhập bằng MetaMask — ký thử thách, phê duyệt thiết bị lần đầu</a:t>
            </a:r>
          </a:p>
        </p:txBody>
      </p:sp>
      <p:sp>
        <p:nvSpPr>
          <p:cNvPr id="9" name="Rounded Rectangle 8"/>
          <p:cNvSpPr/>
          <p:nvPr/>
        </p:nvSpPr>
        <p:spPr>
          <a:xfrm>
            <a:off x="900000" y="2150000"/>
            <a:ext cx="640080" cy="46000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0" name="TextBox 9"/>
          <p:cNvSpPr txBox="1"/>
          <p:nvPr/>
        </p:nvSpPr>
        <p:spPr>
          <a:xfrm>
            <a:off x="1700000" y="2200000"/>
            <a:ext cx="9600000" cy="700000"/>
          </a:xfrm>
          <a:prstGeom prst="rect">
            <a:avLst/>
          </a:prstGeom>
          <a:noFill/>
        </p:spPr>
        <p:txBody>
          <a:bodyPr wrap="square" anchor="t">
            <a:spAutoFit/>
          </a:bodyPr>
          <a:lstStyle/>
          <a:p>
            <a:pPr algn="l"/>
            <a:r>
              <a:rPr sz="1500" b="0" i="0">
                <a:solidFill>
                  <a:srgbClr val="FFFFFF"/>
                </a:solidFill>
                <a:latin typeface="Arial"/>
              </a:rPr>
              <a:t>Kéo-thả tài liệu — chọn chế độ Công khai/Riêng tư, nhập khóa AES</a:t>
            </a:r>
          </a:p>
        </p:txBody>
      </p:sp>
      <p:sp>
        <p:nvSpPr>
          <p:cNvPr id="11" name="Rounded Rectangle 10"/>
          <p:cNvSpPr/>
          <p:nvPr/>
        </p:nvSpPr>
        <p:spPr>
          <a:xfrm>
            <a:off x="900000" y="2950000"/>
            <a:ext cx="640080" cy="46000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2" name="TextBox 11"/>
          <p:cNvSpPr txBox="1"/>
          <p:nvPr/>
        </p:nvSpPr>
        <p:spPr>
          <a:xfrm>
            <a:off x="1700000" y="3000000"/>
            <a:ext cx="9600000" cy="700000"/>
          </a:xfrm>
          <a:prstGeom prst="rect">
            <a:avLst/>
          </a:prstGeom>
          <a:noFill/>
        </p:spPr>
        <p:txBody>
          <a:bodyPr wrap="square" anchor="t">
            <a:spAutoFit/>
          </a:bodyPr>
          <a:lstStyle/>
          <a:p>
            <a:pPr algn="l"/>
            <a:r>
              <a:rPr sz="1500" b="0" i="0">
                <a:solidFill>
                  <a:srgbClr val="FFFFFF"/>
                </a:solidFill>
                <a:latin typeface="Arial"/>
              </a:rPr>
              <a:t>Theo dõi tiến trình: băm → mã hóa → IPFS → ký on-chain → đồng bộ MongoDB</a:t>
            </a:r>
          </a:p>
        </p:txBody>
      </p:sp>
      <p:sp>
        <p:nvSpPr>
          <p:cNvPr id="13" name="Rounded Rectangle 12"/>
          <p:cNvSpPr/>
          <p:nvPr/>
        </p:nvSpPr>
        <p:spPr>
          <a:xfrm>
            <a:off x="900000" y="3750000"/>
            <a:ext cx="640080" cy="46000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4</a:t>
            </a:r>
          </a:p>
        </p:txBody>
      </p:sp>
      <p:sp>
        <p:nvSpPr>
          <p:cNvPr id="14" name="TextBox 13"/>
          <p:cNvSpPr txBox="1"/>
          <p:nvPr/>
        </p:nvSpPr>
        <p:spPr>
          <a:xfrm>
            <a:off x="1700000" y="3800000"/>
            <a:ext cx="9600000" cy="700000"/>
          </a:xfrm>
          <a:prstGeom prst="rect">
            <a:avLst/>
          </a:prstGeom>
          <a:noFill/>
        </p:spPr>
        <p:txBody>
          <a:bodyPr wrap="square" anchor="t">
            <a:spAutoFit/>
          </a:bodyPr>
          <a:lstStyle/>
          <a:p>
            <a:pPr algn="l"/>
            <a:r>
              <a:rPr sz="1500" b="0" i="0">
                <a:solidFill>
                  <a:srgbClr val="FFFFFF"/>
                </a:solidFill>
                <a:latin typeface="Arial"/>
              </a:rPr>
              <a:t>Xác thực file nguyên bản → VERIFIED; sửa 1 byte rồi verify lại → FAILED</a:t>
            </a:r>
          </a:p>
        </p:txBody>
      </p:sp>
      <p:sp>
        <p:nvSpPr>
          <p:cNvPr id="15" name="Rounded Rectangle 14"/>
          <p:cNvSpPr/>
          <p:nvPr/>
        </p:nvSpPr>
        <p:spPr>
          <a:xfrm>
            <a:off x="900000" y="4550000"/>
            <a:ext cx="640080" cy="46000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5</a:t>
            </a:r>
          </a:p>
        </p:txBody>
      </p:sp>
      <p:sp>
        <p:nvSpPr>
          <p:cNvPr id="16" name="TextBox 15"/>
          <p:cNvSpPr txBox="1"/>
          <p:nvPr/>
        </p:nvSpPr>
        <p:spPr>
          <a:xfrm>
            <a:off x="1700000" y="4600000"/>
            <a:ext cx="9600000" cy="700000"/>
          </a:xfrm>
          <a:prstGeom prst="rect">
            <a:avLst/>
          </a:prstGeom>
          <a:noFill/>
        </p:spPr>
        <p:txBody>
          <a:bodyPr wrap="square" anchor="t">
            <a:spAutoFit/>
          </a:bodyPr>
          <a:lstStyle/>
          <a:p>
            <a:pPr algn="l"/>
            <a:r>
              <a:rPr sz="1500" b="0" i="0">
                <a:solidFill>
                  <a:srgbClr val="FFFFFF"/>
                </a:solidFill>
                <a:latin typeface="Arial"/>
              </a:rPr>
              <a:t>Thu hồi tài liệu — MetaMask ký giao dịch; verify lần nữa → REVOKED</a:t>
            </a:r>
          </a:p>
        </p:txBody>
      </p:sp>
      <p:sp>
        <p:nvSpPr>
          <p:cNvPr id="17" name="Rounded Rectangle 16"/>
          <p:cNvSpPr/>
          <p:nvPr/>
        </p:nvSpPr>
        <p:spPr>
          <a:xfrm>
            <a:off x="900000" y="5350000"/>
            <a:ext cx="640080" cy="46000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6</a:t>
            </a:r>
          </a:p>
        </p:txBody>
      </p:sp>
      <p:sp>
        <p:nvSpPr>
          <p:cNvPr id="18" name="TextBox 17"/>
          <p:cNvSpPr txBox="1"/>
          <p:nvPr/>
        </p:nvSpPr>
        <p:spPr>
          <a:xfrm>
            <a:off x="1700000" y="5400000"/>
            <a:ext cx="9600000" cy="700000"/>
          </a:xfrm>
          <a:prstGeom prst="rect">
            <a:avLst/>
          </a:prstGeom>
          <a:noFill/>
        </p:spPr>
        <p:txBody>
          <a:bodyPr wrap="square" anchor="t">
            <a:spAutoFit/>
          </a:bodyPr>
          <a:lstStyle/>
          <a:p>
            <a:pPr algn="l"/>
            <a:r>
              <a:rPr sz="1500" b="0" i="0">
                <a:solidFill>
                  <a:srgbClr val="FFFFFF"/>
                </a:solidFill>
                <a:latin typeface="Arial"/>
              </a:rPr>
              <a:t>Phân quyền: khay chờ duyệt ví mới → cấp vai trò → đối chiếu trên sổ cái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274320" cy="457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0420" y="400050"/>
            <a:ext cx="10200000" cy="560000"/>
          </a:xfrm>
          <a:prstGeom prst="rect">
            <a:avLst/>
          </a:prstGeom>
          <a:noFill/>
        </p:spPr>
        <p:txBody>
          <a:bodyPr wrap="square" anchor="t">
            <a:spAutoFit/>
          </a:bodyPr>
          <a:lstStyle/>
          <a:p>
            <a:pPr algn="l"/>
            <a:r>
              <a:rPr sz="2600" b="1" i="0">
                <a:solidFill>
                  <a:srgbClr val="FFFFFF"/>
                </a:solidFill>
                <a:latin typeface="Arial"/>
              </a:rPr>
              <a:t>06. Ý NGHĨA KHOA HỌC &amp; HƯỚNG PHÁT TRIỂN</a:t>
            </a:r>
          </a:p>
        </p:txBody>
      </p:sp>
      <p:sp>
        <p:nvSpPr>
          <p:cNvPr id="5" name="Rectangle 4"/>
          <p:cNvSpPr/>
          <p:nvPr/>
        </p:nvSpPr>
        <p:spPr>
          <a:xfrm>
            <a:off x="457200" y="1036320"/>
            <a:ext cx="11277600" cy="36576"/>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68000" y="6400000"/>
            <a:ext cx="1200000" cy="300000"/>
          </a:xfrm>
          <a:prstGeom prst="rect">
            <a:avLst/>
          </a:prstGeom>
          <a:noFill/>
        </p:spPr>
        <p:txBody>
          <a:bodyPr wrap="square" anchor="t">
            <a:spAutoFit/>
          </a:bodyPr>
          <a:lstStyle/>
          <a:p>
            <a:pPr algn="r"/>
            <a:r>
              <a:rPr sz="1200" b="0" i="0">
                <a:solidFill>
                  <a:srgbClr val="C9D8E4"/>
                </a:solidFill>
                <a:latin typeface="Arial"/>
              </a:rPr>
              <a:t>14</a:t>
            </a:r>
          </a:p>
        </p:txBody>
      </p:sp>
      <p:sp>
        <p:nvSpPr>
          <p:cNvPr id="7" name="TextBox 6"/>
          <p:cNvSpPr txBox="1"/>
          <p:nvPr/>
        </p:nvSpPr>
        <p:spPr>
          <a:xfrm>
            <a:off x="700000" y="1400000"/>
            <a:ext cx="5300000" cy="4800000"/>
          </a:xfrm>
          <a:prstGeom prst="rect">
            <a:avLst/>
          </a:prstGeom>
          <a:noFill/>
        </p:spPr>
        <p:txBody>
          <a:bodyPr wrap="square">
            <a:spAutoFit/>
          </a:bodyPr>
          <a:lstStyle/>
          <a:p>
            <a:pPr>
              <a:spcAft>
                <a:spcPts val="800"/>
              </a:spcAft>
            </a:pPr>
            <a:r>
              <a:rPr sz="1500" b="1">
                <a:solidFill>
                  <a:srgbClr val="0F9ED5"/>
                </a:solidFill>
                <a:latin typeface="Arial"/>
              </a:rPr>
              <a:t>▸ Ý nghĩa khoa học</a:t>
            </a:r>
          </a:p>
          <a:p>
            <a:pPr>
              <a:lnSpc>
                <a:spcPct val="115000"/>
              </a:lnSpc>
              <a:spcAft>
                <a:spcPts val="800"/>
              </a:spcAft>
            </a:pPr>
            <a:r>
              <a:rPr sz="1300">
                <a:solidFill>
                  <a:srgbClr val="C9D8E4"/>
                </a:solidFill>
                <a:latin typeface="Arial"/>
              </a:rPr>
              <a:t>   Đề tài chứng minh trên thực tế rằng blockchain hoàn toàn có thể đáp ứng bài toán chống giả mạo dữ liệu: toàn bộ vòng đời tài liệu — đóng dấu, kiểm chứng, thu hồi — đều được ghi nhận và kiểm tra công khai trên chuỗi.</a:t>
            </a:r>
          </a:p>
          <a:p>
            <a:pPr>
              <a:spcAft>
                <a:spcPts val="800"/>
              </a:spcAft>
            </a:pPr>
            <a:r>
              <a:rPr sz="1500" b="1">
                <a:solidFill>
                  <a:srgbClr val="0F9ED5"/>
                </a:solidFill>
                <a:latin typeface="Arial"/>
              </a:rPr>
              <a:t>▸ Đóng góp về mô hình</a:t>
            </a:r>
          </a:p>
          <a:p>
            <a:pPr>
              <a:lnSpc>
                <a:spcPct val="115000"/>
              </a:lnSpc>
              <a:spcAft>
                <a:spcPts val="800"/>
              </a:spcAft>
            </a:pPr>
            <a:r>
              <a:rPr sz="1300">
                <a:solidFill>
                  <a:srgbClr val="C9D8E4"/>
                </a:solidFill>
                <a:latin typeface="Arial"/>
              </a:rPr>
              <a:t>   Kiến trúc "hash và quyền on-chain, nội dung mã hóa off-chain" tách biệt rõ phần cần công khai và phần cần bảo mật, kèm cơ chế ủy thác khóa theo chế độ chia sẻ linh hoạt.</a:t>
            </a:r>
          </a:p>
        </p:txBody>
      </p:sp>
      <p:sp>
        <p:nvSpPr>
          <p:cNvPr id="8" name="TextBox 7"/>
          <p:cNvSpPr txBox="1"/>
          <p:nvPr/>
        </p:nvSpPr>
        <p:spPr>
          <a:xfrm>
            <a:off x="6400000" y="1400000"/>
            <a:ext cx="5100000" cy="4800000"/>
          </a:xfrm>
          <a:prstGeom prst="rect">
            <a:avLst/>
          </a:prstGeom>
          <a:noFill/>
        </p:spPr>
        <p:txBody>
          <a:bodyPr wrap="square">
            <a:spAutoFit/>
          </a:bodyPr>
          <a:lstStyle/>
          <a:p>
            <a:pPr>
              <a:spcAft>
                <a:spcPts val="800"/>
              </a:spcAft>
            </a:pPr>
            <a:r>
              <a:rPr sz="1500" b="1">
                <a:solidFill>
                  <a:srgbClr val="0F9ED5"/>
                </a:solidFill>
                <a:latin typeface="Arial"/>
              </a:rPr>
              <a:t>▸ Hạn chế còn tồn tại</a:t>
            </a:r>
          </a:p>
          <a:p>
            <a:pPr>
              <a:lnSpc>
                <a:spcPct val="115000"/>
              </a:lnSpc>
              <a:spcAft>
                <a:spcPts val="800"/>
              </a:spcAft>
            </a:pPr>
            <a:r>
              <a:rPr sz="1300">
                <a:solidFill>
                  <a:srgbClr val="C9D8E4"/>
                </a:solidFill>
                <a:latin typeface="Arial"/>
              </a:rPr>
              <a:t>   Hệ thống còn phụ thuộc độ ổn định của mạng Sepolia và chi phí gas; cơ chế ủy thác khóa tập trung tại server là điểm tin cậy đơn; hiệu năng với tệp dung lượng lớn chưa được tối ưu.</a:t>
            </a:r>
          </a:p>
          <a:p>
            <a:pPr>
              <a:spcAft>
                <a:spcPts val="800"/>
              </a:spcAft>
            </a:pPr>
            <a:r>
              <a:rPr sz="1500" b="1">
                <a:solidFill>
                  <a:srgbClr val="0F9ED5"/>
                </a:solidFill>
                <a:latin typeface="Arial"/>
              </a:rPr>
              <a:t>▸ Hướng phát triển tiếp theo</a:t>
            </a:r>
          </a:p>
          <a:p>
            <a:pPr>
              <a:lnSpc>
                <a:spcPct val="115000"/>
              </a:lnSpc>
              <a:spcAft>
                <a:spcPts val="800"/>
              </a:spcAft>
            </a:pPr>
            <a:r>
              <a:rPr sz="1300">
                <a:solidFill>
                  <a:srgbClr val="C9D8E4"/>
                </a:solidFill>
                <a:latin typeface="Arial"/>
              </a:rPr>
              <a:t>   Chuyển sang mạng Layer-2 để giảm chi phí ghi chuỗi; tích hợp chuẩn định danh phi tập trung DID và Verifiable Credential; áp dụng mã hóa ngưỡng (threshold) thay cho ủy thác khóa đơn điểm.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E28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2000" cy="91440"/>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500000"/>
            <a:ext cx="10363200" cy="1200000"/>
          </a:xfrm>
          <a:prstGeom prst="rect">
            <a:avLst/>
          </a:prstGeom>
          <a:noFill/>
        </p:spPr>
        <p:txBody>
          <a:bodyPr wrap="square" anchor="t">
            <a:spAutoFit/>
          </a:bodyPr>
          <a:lstStyle/>
          <a:p>
            <a:pPr algn="ctr"/>
            <a:r>
              <a:rPr sz="3600" b="1" i="0">
                <a:solidFill>
                  <a:srgbClr val="FFFFFF"/>
                </a:solidFill>
                <a:latin typeface="Arial"/>
              </a:rPr>
              <a:t>Cảm ơn thầy và các bạn đã lắng nghe</a:t>
            </a:r>
          </a:p>
        </p:txBody>
      </p:sp>
      <p:sp>
        <p:nvSpPr>
          <p:cNvPr id="5" name="Rectangle 4"/>
          <p:cNvSpPr/>
          <p:nvPr/>
        </p:nvSpPr>
        <p:spPr>
          <a:xfrm>
            <a:off x="5029200" y="3900000"/>
            <a:ext cx="2133600" cy="36576"/>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200000"/>
            <a:ext cx="10363200" cy="600000"/>
          </a:xfrm>
          <a:prstGeom prst="rect">
            <a:avLst/>
          </a:prstGeom>
          <a:noFill/>
        </p:spPr>
        <p:txBody>
          <a:bodyPr wrap="square" anchor="t">
            <a:spAutoFit/>
          </a:bodyPr>
          <a:lstStyle/>
          <a:p>
            <a:pPr algn="ctr"/>
            <a:r>
              <a:rPr sz="1600" b="0" i="0">
                <a:solidFill>
                  <a:srgbClr val="0F9ED5"/>
                </a:solidFill>
                <a:latin typeface="Arial"/>
              </a:rPr>
              <a:t>DataIntegrity — Xác thực và chống giả mạo dữ liệu số bằng Blockchain</a:t>
            </a:r>
          </a:p>
        </p:txBody>
      </p:sp>
      <p:sp>
        <p:nvSpPr>
          <p:cNvPr id="7" name="Rectangle 6"/>
          <p:cNvSpPr/>
          <p:nvPr/>
        </p:nvSpPr>
        <p:spPr>
          <a:xfrm>
            <a:off x="0" y="6766560"/>
            <a:ext cx="12192000" cy="91440"/>
          </a:xfrm>
          <a:prstGeom prst="rect">
            <a:avLst/>
          </a:prstGeom>
          <a:solidFill>
            <a:srgbClr val="0F9E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