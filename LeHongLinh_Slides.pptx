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chỉ cần thả file — hệ thống tự băm và tra cứu theo hash nội dung, không cần nhớ mã; file bị đổi tên hay sửa nhẹ vẫn được gợi ý bản gốc nhờ so tên tương tự và fuzzy hash từng đoạn nội dung (kiểu CTPH — chia file theo ranh giới nội dung, sửa một đoạn vẫn trùng phần lớn đoạn còn lại), kèm phần trăm tương đồng trước khi đối chiếu với hash gốc trên Smart Contract.</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Vòng đời ví đầy đủ: duyệt — tạm khóa — mở khóa — xóa — đăng ký lại; ví bị khóa không thể tự mở, từ chối 3 lần chặn xin lại 30 phút.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 chủ sở hữu đổi được chế độ bất cứ lúc nào. Tài liệu công khai: mọi ví đã đăng nhập được server cấp lại khóa và xem trực tiếp. Tài liệu riêng tư: chỉ chủ sở hữu được cấp khóa — kể cả Admin cũng không xem được, người khác chỉ thấy metadata.</a:t>
            </a:r>
          </a:p>
          <a:p>
            <a:pPr>
              <a:spcAft>
                <a:spcPts val="800"/>
              </a:spcAft>
            </a:pPr>
            <a:r>
              <a:rPr sz="1500" b="1">
                <a:solidFill>
                  <a:srgbClr val="0F9ED5"/>
                </a:solidFill>
                <a:latin typeface="Arial"/>
              </a:rPr>
              <a:t>▸ Kiểm soát trùng nội dung hai lớp theo ví</a:t>
            </a:r>
          </a:p>
          <a:p>
            <a:pPr>
              <a:lnSpc>
                <a:spcPct val="115000"/>
              </a:lnSpc>
              <a:spcAft>
                <a:spcPts val="800"/>
              </a:spcAft>
            </a:pPr>
            <a:r>
              <a:rPr sz="1300">
                <a:solidFill>
                  <a:srgbClr val="C9D8E4"/>
                </a:solidFill>
                <a:latin typeface="Arial"/>
              </a:rPr>
              <a:t>   Contract lưu sổ chống trùng riêng cho từng ví (multi-tenant): nội dung trùng của chính ví thì chỉ được bỏ qua, nội dung của ví khác upload bình thường như file mới — mỗi tổ chức giữ bản ghi và khóa riêng. Lớp kiểm tra lần cuối tự loại nội dung vừa được chính ví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 — ĐÓNG GÓP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7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01  </a:t>
            </a:r>
            <a:r>
              <a:rPr sz="1500" b="1">
                <a:solidFill>
                  <a:srgbClr val="FFFFFF"/>
                </a:solidFill>
                <a:latin typeface="Arial"/>
              </a:rPr>
              <a:t>Hệ thống hoàn chỉnh trên môi trường thật</a:t>
            </a:r>
          </a:p>
          <a:p>
            <a:pPr>
              <a:lnSpc>
                <a:spcPct val="120000"/>
              </a:lnSpc>
              <a:spcBef>
                <a:spcPts val="800"/>
              </a:spcBef>
            </a:pPr>
            <a:r>
              <a:rPr sz="1200">
                <a:solidFill>
                  <a:srgbClr val="C9D8E4"/>
                </a:solidFill>
                <a:latin typeface="Arial"/>
              </a:rPr>
              <a:t>Toàn bộ vòng đời tài liệu — đóng dấu, kiểm chứng, thu hồi — vận hành 24/7 trên Sepolia + IPFS; mọi giao dịch tra công khai trên Etherscan.</a:t>
            </a:r>
          </a:p>
        </p:txBody>
      </p:sp>
      <p:sp>
        <p:nvSpPr>
          <p:cNvPr id="8" name="Rounded Rectangle 7"/>
          <p:cNvSpPr/>
          <p:nvPr/>
        </p:nvSpPr>
        <p:spPr>
          <a:xfrm>
            <a:off x="62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02  </a:t>
            </a:r>
            <a:r>
              <a:rPr sz="1500" b="1">
                <a:solidFill>
                  <a:srgbClr val="FFFFFF"/>
                </a:solidFill>
                <a:latin typeface="Arial"/>
              </a:rPr>
              <a:t>Kiến trúc hash on-chain, nội dung off-chain</a:t>
            </a:r>
          </a:p>
          <a:p>
            <a:pPr>
              <a:lnSpc>
                <a:spcPct val="120000"/>
              </a:lnSpc>
              <a:spcBef>
                <a:spcPts val="800"/>
              </a:spcBef>
            </a:pPr>
            <a:r>
              <a:rPr sz="1200">
                <a:solidFill>
                  <a:srgbClr val="C9D8E4"/>
                </a:solidFill>
                <a:latin typeface="Arial"/>
              </a:rPr>
              <a:t>SHA-256 và quyền RBAC trong Smart Contract; nội dung AES-256 trên IPFS; khóa ủy thác bọc AES-256-GCM — tách rõ phần công khai và phần bảo mật.</a:t>
            </a:r>
          </a:p>
        </p:txBody>
      </p:sp>
      <p:sp>
        <p:nvSpPr>
          <p:cNvPr id="9" name="Rounded Rectangle 8"/>
          <p:cNvSpPr/>
          <p:nvPr/>
        </p:nvSpPr>
        <p:spPr>
          <a:xfrm>
            <a:off x="7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03  </a:t>
            </a:r>
            <a:r>
              <a:rPr sz="1500" b="1">
                <a:solidFill>
                  <a:srgbClr val="FFFFFF"/>
                </a:solidFill>
                <a:latin typeface="Arial"/>
              </a:rPr>
              <a:t>Xác thực không mật khẩu</a:t>
            </a:r>
          </a:p>
          <a:p>
            <a:pPr>
              <a:lnSpc>
                <a:spcPct val="120000"/>
              </a:lnSpc>
              <a:spcBef>
                <a:spcPts val="800"/>
              </a:spcBef>
            </a:pPr>
            <a:r>
              <a:rPr sz="1200">
                <a:solidFill>
                  <a:srgbClr val="C9D8E4"/>
                </a:solidFill>
                <a:latin typeface="Arial"/>
              </a:rPr>
              <a:t>Đăng nhập bằng chữ ký ví MetaMask, phiên JWT theo thiết bị, duyệt máy lạ và OTP email — loại bỏ hoàn toàn rủi ro rò rỉ mật khẩu truyền thống.</a:t>
            </a:r>
          </a:p>
        </p:txBody>
      </p:sp>
      <p:sp>
        <p:nvSpPr>
          <p:cNvPr id="10" name="Rounded Rectangle 9"/>
          <p:cNvSpPr/>
          <p:nvPr/>
        </p:nvSpPr>
        <p:spPr>
          <a:xfrm>
            <a:off x="62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04  </a:t>
            </a:r>
            <a:r>
              <a:rPr sz="1500" b="1">
                <a:solidFill>
                  <a:srgbClr val="FFFFFF"/>
                </a:solidFill>
                <a:latin typeface="Arial"/>
              </a:rPr>
              <a:t>Nghiệp vụ đầy đủ, kiểm chứng bằng test tự động</a:t>
            </a:r>
          </a:p>
          <a:p>
            <a:pPr>
              <a:lnSpc>
                <a:spcPct val="120000"/>
              </a:lnSpc>
              <a:spcBef>
                <a:spcPts val="800"/>
              </a:spcBef>
            </a:pPr>
            <a:r>
              <a:rPr sz="1200">
                <a:solidFill>
                  <a:srgbClr val="C9D8E4"/>
                </a:solidFill>
                <a:latin typeface="Arial"/>
              </a:rPr>
              <a:t>Upload lô một lần ký MetaMask, kiểm soát trùng nội dung hai lớp, khóa và chế độ chia sẻ riêng từng file, xem trước DOCX/PDF, API cho đối tác — bao phủ 163 ca kiểm thử (96 tự động + 67 end-to-end).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khóa/mở khóa ví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